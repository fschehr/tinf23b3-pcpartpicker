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Lst>
  <p:sldSz cy="6858000" cx="12192000"/>
  <p:notesSz cx="6858000" cy="9144000"/>
  <p:embeddedFontLst>
    <p:embeddedFont>
      <p:font typeface="Play"/>
      <p:regular r:id="rId73"/>
      <p:bold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5" roundtripDataSignature="AMtx7mh5LibwjnlL9/XRUvbRN7s7F+ck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Play-regular.fntdata"/><Relationship Id="rId72" Type="http://schemas.openxmlformats.org/officeDocument/2006/relationships/slide" Target="slides/slide68.xml"/><Relationship Id="rId31" Type="http://schemas.openxmlformats.org/officeDocument/2006/relationships/slide" Target="slides/slide27.xml"/><Relationship Id="rId75" Type="http://customschemas.google.com/relationships/presentationmetadata" Target="metadata"/><Relationship Id="rId30" Type="http://schemas.openxmlformats.org/officeDocument/2006/relationships/slide" Target="slides/slide26.xml"/><Relationship Id="rId74" Type="http://schemas.openxmlformats.org/officeDocument/2006/relationships/font" Target="fonts/Play-bold.fntdata"/><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Erklären, dass der Startbefehl die Main.java startet</a:t>
            </a:r>
            <a:endParaRPr/>
          </a:p>
        </p:txBody>
      </p:sp>
      <p:sp>
        <p:nvSpPr>
          <p:cNvPr id="100" name="Google Shape;10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a:t>Java: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Anmerken, dass das nicht alle Klassen sind und z.B. es viel mehr Komponenten geht, es soll aber das Prinzip klar werden </a:t>
            </a:r>
            <a:endParaRPr/>
          </a:p>
          <a:p>
            <a:pPr indent="-171450" lvl="0" marL="171450" rtl="0" algn="l">
              <a:spcBef>
                <a:spcPts val="0"/>
              </a:spcBef>
              <a:spcAft>
                <a:spcPts val="0"/>
              </a:spcAft>
              <a:buClr>
                <a:schemeClr val="dk1"/>
              </a:buClr>
              <a:buSzPts val="1200"/>
              <a:buFont typeface="Arial"/>
              <a:buChar char="-"/>
            </a:pPr>
            <a:r>
              <a:rPr lang="de-DE"/>
              <a:t>Schichtentrennung:</a:t>
            </a:r>
            <a:endParaRPr/>
          </a:p>
          <a:p>
            <a:pPr indent="-171450" lvl="1" marL="628650" rtl="0" algn="l">
              <a:spcBef>
                <a:spcPts val="0"/>
              </a:spcBef>
              <a:spcAft>
                <a:spcPts val="0"/>
              </a:spcAft>
              <a:buClr>
                <a:schemeClr val="dk1"/>
              </a:buClr>
              <a:buSzPts val="1200"/>
              <a:buFont typeface="Arial"/>
              <a:buChar char="-"/>
            </a:pPr>
            <a:r>
              <a:rPr lang="de-DE"/>
              <a:t>Domain: beinhaltet die Kernlogik (CPU, GPU, …) </a:t>
            </a:r>
            <a:endParaRPr/>
          </a:p>
          <a:p>
            <a:pPr indent="-171450" lvl="1" marL="628650" rtl="0" algn="l">
              <a:spcBef>
                <a:spcPts val="0"/>
              </a:spcBef>
              <a:spcAft>
                <a:spcPts val="0"/>
              </a:spcAft>
              <a:buClr>
                <a:schemeClr val="dk1"/>
              </a:buClr>
              <a:buSzPts val="1200"/>
              <a:buFont typeface="Arial"/>
              <a:buChar char="-"/>
            </a:pPr>
            <a:r>
              <a:rPr lang="de-DE"/>
              <a:t>Applicaton: part_assembly (Computer, Performance)</a:t>
            </a:r>
            <a:endParaRPr/>
          </a:p>
          <a:p>
            <a:pPr indent="-171450" lvl="1" marL="628650" rtl="0" algn="l">
              <a:spcBef>
                <a:spcPts val="0"/>
              </a:spcBef>
              <a:spcAft>
                <a:spcPts val="0"/>
              </a:spcAft>
              <a:buClr>
                <a:schemeClr val="dk1"/>
              </a:buClr>
              <a:buSzPts val="1200"/>
              <a:buFont typeface="Arial"/>
              <a:buChar char="-"/>
            </a:pPr>
            <a:r>
              <a:rPr lang="de-DE"/>
              <a:t>Adapters: CLI und SQLite Datenbank werden angeknüpft, Commands etc. </a:t>
            </a:r>
            <a:endParaRPr/>
          </a:p>
          <a:p>
            <a:pPr indent="0" lvl="0" marL="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Diese Klasse importiert und nutzt z.B. Computer und viele andere Domain-Features, da sie ja auch zu den Adaptern gehört </a:t>
            </a:r>
            <a:endParaRPr/>
          </a:p>
        </p:txBody>
      </p:sp>
      <p:sp>
        <p:nvSpPr>
          <p:cNvPr id="130" name="Google Shape;13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Der Computer.Buiilder nutzt direkt ColorConstants um Farben darzustellen, was eigentlich Aufabe der CLI ist. Er sollte eigentlich nur Strings zurückgeben, die letztendliche Darstellung übernimmt dann die Cli </a:t>
            </a:r>
            <a:endParaRPr/>
          </a:p>
          <a:p>
            <a:pPr indent="0" lvl="0" marL="0" rtl="0" algn="l">
              <a:spcBef>
                <a:spcPts val="0"/>
              </a:spcBef>
              <a:spcAft>
                <a:spcPts val="0"/>
              </a:spcAft>
              <a:buNone/>
            </a:pPr>
            <a:r>
              <a:t/>
            </a:r>
            <a:endParaRPr/>
          </a:p>
        </p:txBody>
      </p:sp>
      <p:sp>
        <p:nvSpPr>
          <p:cNvPr id="145" name="Google Shape;1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Der Rote Kreis zeigt die Verletzung der Dependency Rule, da hier der Computer Builder von ComputerDraft abhängt ihn also nutzt</a:t>
            </a:r>
            <a:endParaRPr/>
          </a:p>
        </p:txBody>
      </p:sp>
      <p:sp>
        <p:nvSpPr>
          <p:cNvPr id="154" name="Google Shape;15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Der Input Reader hat nur die Aufgabe Nutzereingaben von der Konsole zu lesen </a:t>
            </a:r>
            <a:endParaRPr/>
          </a:p>
          <a:p>
            <a:pPr indent="-171450" lvl="0" marL="171450" rtl="0" algn="l">
              <a:spcBef>
                <a:spcPts val="0"/>
              </a:spcBef>
              <a:spcAft>
                <a:spcPts val="0"/>
              </a:spcAft>
              <a:buClr>
                <a:schemeClr val="dk1"/>
              </a:buClr>
              <a:buSzPts val="1200"/>
              <a:buFont typeface="Arial"/>
              <a:buChar char="-"/>
            </a:pPr>
            <a:r>
              <a:rPr lang="de-DE"/>
              <a:t>SRP: Single Responsibility Principle </a:t>
            </a:r>
            <a:endParaRPr/>
          </a:p>
        </p:txBody>
      </p:sp>
      <p:sp>
        <p:nvSpPr>
          <p:cNvPr id="161" name="Google Shape;16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Das UML wäre zu groß, wenn man alle Commands abbilden würd, die den inputReader verwenden </a:t>
            </a:r>
            <a:endParaRPr/>
          </a:p>
          <a:p>
            <a:pPr indent="-171450" lvl="0" marL="171450" rtl="0" algn="l">
              <a:spcBef>
                <a:spcPts val="0"/>
              </a:spcBef>
              <a:spcAft>
                <a:spcPts val="0"/>
              </a:spcAft>
              <a:buClr>
                <a:schemeClr val="dk1"/>
              </a:buClr>
              <a:buSzPts val="1200"/>
              <a:buFont typeface="Arial"/>
              <a:buChar char="-"/>
            </a:pPr>
            <a:r>
              <a:rPr lang="de-DE"/>
              <a:t>Teilweise nutzen Commands erst den AppContext über den sie auf den InputReader zugreifen um zu viele Argumente im Konstuktor zu verhindern </a:t>
            </a:r>
            <a:endParaRPr/>
          </a:p>
          <a:p>
            <a:pPr indent="-171450" lvl="0" marL="171450" rtl="0" algn="l">
              <a:spcBef>
                <a:spcPts val="0"/>
              </a:spcBef>
              <a:spcAft>
                <a:spcPts val="0"/>
              </a:spcAft>
              <a:buClr>
                <a:schemeClr val="dk1"/>
              </a:buClr>
              <a:buSzPts val="1200"/>
              <a:buFont typeface="Arial"/>
              <a:buChar char="-"/>
            </a:pPr>
            <a:r>
              <a:rPr lang="de-DE"/>
              <a:t>Teilweise nutzen Commands auch direkt den InputReader als Objekt</a:t>
            </a:r>
            <a:endParaRPr/>
          </a:p>
        </p:txBody>
      </p:sp>
      <p:sp>
        <p:nvSpPr>
          <p:cNvPr id="169" name="Google Shape;16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Warum negativ? Der DatabaseInitializer erstellt nicht nur das DB Schema sondern parset und importiert auch die JSONL Dateien </a:t>
            </a:r>
            <a:endParaRPr/>
          </a:p>
          <a:p>
            <a:pPr indent="-171450" lvl="0" marL="171450" rtl="0" algn="l">
              <a:spcBef>
                <a:spcPts val="0"/>
              </a:spcBef>
              <a:spcAft>
                <a:spcPts val="0"/>
              </a:spcAft>
              <a:buClr>
                <a:schemeClr val="dk1"/>
              </a:buClr>
              <a:buSzPts val="1200"/>
              <a:buFont typeface="Arial"/>
              <a:buChar char="-"/>
            </a:pPr>
            <a:r>
              <a:rPr lang="de-DE"/>
              <a:t>Lösungsweg: Auslagern der Import Logik in einen JsonImporter </a:t>
            </a:r>
            <a:endParaRPr/>
          </a:p>
        </p:txBody>
      </p:sp>
      <p:sp>
        <p:nvSpPr>
          <p:cNvPr id="176" name="Google Shape;1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Menu man beliebig viele neue Befehle (Commands) hinzufügen, ohne den Code von Menu anpassen zu müssen (ist das Beispiel korrekt? Die Commands sind doch aus ner ganz anderen Klasse)</a:t>
            </a:r>
            <a:endParaRPr/>
          </a:p>
          <a:p>
            <a:pPr indent="-171450" lvl="0" marL="171450" rtl="0" algn="l">
              <a:spcBef>
                <a:spcPts val="0"/>
              </a:spcBef>
              <a:spcAft>
                <a:spcPts val="0"/>
              </a:spcAft>
              <a:buClr>
                <a:schemeClr val="dk1"/>
              </a:buClr>
              <a:buSzPts val="1200"/>
              <a:buFont typeface="Arial"/>
              <a:buChar char="-"/>
            </a:pPr>
            <a:r>
              <a:rPr lang="de-DE"/>
              <a:t>Die MenuFactory nutzt die ganzen Commands, der Grundsätliche Aufbau des Menüs ändert sich aber nicht </a:t>
            </a:r>
            <a:endParaRPr/>
          </a:p>
          <a:p>
            <a:pPr indent="-171450" lvl="0" marL="171450" rtl="0" algn="l">
              <a:spcBef>
                <a:spcPts val="0"/>
              </a:spcBef>
              <a:spcAft>
                <a:spcPts val="0"/>
              </a:spcAft>
              <a:buClr>
                <a:schemeClr val="dk1"/>
              </a:buClr>
              <a:buSzPts val="1200"/>
              <a:buFont typeface="Arial"/>
              <a:buChar char="-"/>
            </a:pPr>
            <a:r>
              <a:rPr lang="de-DE"/>
              <a:t>Man kann beliebig viele MenuItems in das Menü einbauen, ohne es zu ändern </a:t>
            </a:r>
            <a:endParaRPr/>
          </a:p>
          <a:p>
            <a:pPr indent="-95250" lvl="0" marL="171450" rtl="0" algn="l">
              <a:spcBef>
                <a:spcPts val="0"/>
              </a:spcBef>
              <a:spcAft>
                <a:spcPts val="0"/>
              </a:spcAft>
              <a:buClr>
                <a:schemeClr val="dk1"/>
              </a:buClr>
              <a:buSzPts val="1200"/>
              <a:buFont typeface="Arial"/>
              <a:buNone/>
            </a:pPr>
            <a:r>
              <a:t/>
            </a:r>
            <a:endParaRPr/>
          </a:p>
        </p:txBody>
      </p:sp>
      <p:sp>
        <p:nvSpPr>
          <p:cNvPr id="197" name="Google Shape;19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Negativ, da sobald man neue Features wie Wasserkühlung oder so etwas hinzufügt, muss man die TableRows Funktionen anpassen und soagar zweimal einmal für Draft und einmal für Computer </a:t>
            </a:r>
            <a:endParaRPr/>
          </a:p>
        </p:txBody>
      </p:sp>
      <p:sp>
        <p:nvSpPr>
          <p:cNvPr id="212" name="Google Shape;21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Lösung: jede Komponente könnte ein Interface implementieren, dass ihr eigenen Tabellenzeile zurückgibt. Hier sind extra nicht alle Komponeten dargestellt, da das sonst zu viel werden würde</a:t>
            </a:r>
            <a:endParaRPr/>
          </a:p>
          <a:p>
            <a:pPr indent="-95250" lvl="0" marL="171450" rtl="0" algn="l">
              <a:spcBef>
                <a:spcPts val="0"/>
              </a:spcBef>
              <a:spcAft>
                <a:spcPts val="0"/>
              </a:spcAft>
              <a:buClr>
                <a:schemeClr val="dk1"/>
              </a:buClr>
              <a:buSzPts val="1200"/>
              <a:buFont typeface="Arial"/>
              <a:buNone/>
            </a:pPr>
            <a:r>
              <a:t/>
            </a:r>
            <a:endParaRPr/>
          </a:p>
        </p:txBody>
      </p:sp>
      <p:sp>
        <p:nvSpPr>
          <p:cNvPr id="227" name="Google Shape;22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High Level Modeule (Menu) hängt nicht von Low Level Modulen ab </a:t>
            </a:r>
            <a:endParaRPr/>
          </a:p>
          <a:p>
            <a:pPr indent="0" lvl="0" marL="0" rtl="0" algn="l">
              <a:spcBef>
                <a:spcPts val="0"/>
              </a:spcBef>
              <a:spcAft>
                <a:spcPts val="0"/>
              </a:spcAft>
              <a:buNone/>
            </a:pPr>
            <a:r>
              <a:rPr lang="de-DE"/>
              <a:t>- High Level (Menu.java) erledigt allgemeine Aufgabe und ein MenuItem(Low Level) bspw. eine konkrete Aufgabe. </a:t>
            </a:r>
            <a:endParaRPr/>
          </a:p>
          <a:p>
            <a:pPr indent="0" lvl="0" marL="0" rtl="0" algn="l">
              <a:spcBef>
                <a:spcPts val="0"/>
              </a:spcBef>
              <a:spcAft>
                <a:spcPts val="0"/>
              </a:spcAft>
              <a:buNone/>
            </a:pPr>
            <a:r>
              <a:rPr lang="de-DE"/>
              <a:t>- Menu kennt nur das Interface IMenuComponent -&gt; weiß nicht, was ein MenuItem ist -&gt; beide hängen nur von einer Abstraktion ab </a:t>
            </a:r>
            <a:endParaRPr/>
          </a:p>
          <a:p>
            <a:pPr indent="0" lvl="0" marL="0" rtl="0" algn="l">
              <a:spcBef>
                <a:spcPts val="0"/>
              </a:spcBef>
              <a:spcAft>
                <a:spcPts val="0"/>
              </a:spcAft>
              <a:buNone/>
            </a:pPr>
            <a:r>
              <a:rPr lang="de-DE"/>
              <a:t>- erreicht das DIP genau über dasselbe Prinzip wie auch das OCP erreicht wird </a:t>
            </a:r>
            <a:endParaRPr/>
          </a:p>
        </p:txBody>
      </p:sp>
      <p:sp>
        <p:nvSpPr>
          <p:cNvPr id="234" name="Google Shape;23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Negativ: fordert im Konstruktor das konkrete UserRepository und hängt als High Level Klasse damit von einer Low-Level Klasse ab ( UserRepository)</a:t>
            </a:r>
            <a:endParaRPr/>
          </a:p>
          <a:p>
            <a:pPr indent="-171450" lvl="0" marL="171450" rtl="0" algn="l">
              <a:spcBef>
                <a:spcPts val="0"/>
              </a:spcBef>
              <a:spcAft>
                <a:spcPts val="0"/>
              </a:spcAft>
              <a:buClr>
                <a:schemeClr val="dk1"/>
              </a:buClr>
              <a:buSzPts val="1200"/>
              <a:buFont typeface="Arial"/>
              <a:buChar char="-"/>
            </a:pPr>
            <a:r>
              <a:rPr lang="de-DE"/>
              <a:t>Lösung: Interface dazwischenschalten, das Repository implementiert dann das Interface</a:t>
            </a:r>
            <a:endParaRPr/>
          </a:p>
          <a:p>
            <a:pPr indent="-171450" lvl="1" marL="628650" rtl="0" algn="l">
              <a:spcBef>
                <a:spcPts val="0"/>
              </a:spcBef>
              <a:spcAft>
                <a:spcPts val="0"/>
              </a:spcAft>
              <a:buClr>
                <a:schemeClr val="dk1"/>
              </a:buClr>
              <a:buSzPts val="1200"/>
              <a:buFont typeface="Arial"/>
              <a:buChar char="-"/>
            </a:pPr>
            <a:r>
              <a:rPr lang="de-DE"/>
              <a:t>Im AppContext und NewUserCommand fordert man nur noch das Interface an </a:t>
            </a:r>
            <a:endParaRPr/>
          </a:p>
        </p:txBody>
      </p:sp>
      <p:sp>
        <p:nvSpPr>
          <p:cNvPr id="249" name="Google Shape;24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Lösung: Interface dazwischenschalten, das Repository implementiert dann das Interface</a:t>
            </a:r>
            <a:endParaRPr/>
          </a:p>
          <a:p>
            <a:pPr indent="-171450" lvl="1" marL="628650" rtl="0" algn="l">
              <a:spcBef>
                <a:spcPts val="0"/>
              </a:spcBef>
              <a:spcAft>
                <a:spcPts val="0"/>
              </a:spcAft>
              <a:buClr>
                <a:schemeClr val="dk1"/>
              </a:buClr>
              <a:buSzPts val="1200"/>
              <a:buFont typeface="Arial"/>
              <a:buChar char="-"/>
            </a:pPr>
            <a:r>
              <a:rPr lang="de-DE"/>
              <a:t>Im AppContext und NewUserCommand fordert man nur noch das Interface an </a:t>
            </a:r>
            <a:endParaRPr/>
          </a:p>
          <a:p>
            <a:pPr indent="0" lvl="0" marL="0" rtl="0" algn="l">
              <a:spcBef>
                <a:spcPts val="0"/>
              </a:spcBef>
              <a:spcAft>
                <a:spcPts val="0"/>
              </a:spcAft>
              <a:buNone/>
            </a:pPr>
            <a:r>
              <a:t/>
            </a:r>
            <a:endParaRPr/>
          </a:p>
        </p:txBody>
      </p:sp>
      <p:sp>
        <p:nvSpPr>
          <p:cNvPr id="257" name="Google Shape;25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Abstrahiert den direkten JDBC-Datenbankzugriff, wodurch Repositorys nur sehr lose an die SQL-Verbindungslogik gekoppelt sind </a:t>
            </a:r>
            <a:endParaRPr/>
          </a:p>
          <a:p>
            <a:pPr indent="-171450" lvl="0" marL="171450" rtl="0" algn="l">
              <a:spcBef>
                <a:spcPts val="0"/>
              </a:spcBef>
              <a:spcAft>
                <a:spcPts val="0"/>
              </a:spcAft>
              <a:buClr>
                <a:schemeClr val="dk1"/>
              </a:buClr>
              <a:buSzPts val="1200"/>
              <a:buFont typeface="Arial"/>
              <a:buChar char="-"/>
            </a:pPr>
            <a:r>
              <a:rPr lang="de-DE"/>
              <a:t>Die Repos müssen selbst keine Datenbankverbindungen herstellen</a:t>
            </a:r>
            <a:endParaRPr/>
          </a:p>
        </p:txBody>
      </p:sp>
      <p:sp>
        <p:nvSpPr>
          <p:cNvPr id="270" name="Google Shape;27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de-DE"/>
              <a:t>Klasse:</a:t>
            </a:r>
            <a:r>
              <a:rPr lang="de-DE"/>
              <a:t> </a:t>
            </a:r>
            <a:r>
              <a:rPr lang="de-DE" sz="1200">
                <a:solidFill>
                  <a:schemeClr val="dk1"/>
                </a:solidFill>
                <a:latin typeface="Arial"/>
                <a:ea typeface="Arial"/>
                <a:cs typeface="Arial"/>
                <a:sym typeface="Arial"/>
              </a:rPr>
              <a:t>JdbcRepository</a:t>
            </a:r>
            <a:r>
              <a:rPr lang="de-DE"/>
              <a:t> </a:t>
            </a:r>
            <a:r>
              <a:rPr b="1" lang="de-DE"/>
              <a:t>Zusammenspielende Klassen (Aufrufer/Nutzer):</a:t>
            </a:r>
            <a:r>
              <a:rPr lang="de-DE"/>
              <a:t> Konkrete Repositories wie </a:t>
            </a:r>
            <a:r>
              <a:rPr lang="de-DE" sz="1200">
                <a:solidFill>
                  <a:schemeClr val="dk1"/>
                </a:solidFill>
                <a:latin typeface="Arial"/>
                <a:ea typeface="Arial"/>
                <a:cs typeface="Arial"/>
                <a:sym typeface="Arial"/>
              </a:rPr>
              <a:t>UserRepository</a:t>
            </a:r>
            <a:r>
              <a:rPr lang="de-DE"/>
              <a:t> und </a:t>
            </a:r>
            <a:r>
              <a:rPr lang="de-DE" sz="1200">
                <a:solidFill>
                  <a:schemeClr val="dk1"/>
                </a:solidFill>
                <a:latin typeface="Arial"/>
                <a:ea typeface="Arial"/>
                <a:cs typeface="Arial"/>
                <a:sym typeface="Arial"/>
              </a:rPr>
              <a:t>CpuRepository</a:t>
            </a:r>
            <a:r>
              <a:rPr lang="de-DE"/>
              <a:t>, sowie die </a:t>
            </a:r>
            <a:r>
              <a:rPr lang="de-DE" sz="1200">
                <a:solidFill>
                  <a:schemeClr val="dk1"/>
                </a:solidFill>
                <a:latin typeface="Arial"/>
                <a:ea typeface="Arial"/>
                <a:cs typeface="Arial"/>
                <a:sym typeface="Arial"/>
              </a:rPr>
              <a:t>ConnectionFactory</a:t>
            </a:r>
            <a:r>
              <a:rPr lang="de-DE"/>
              <a:t>.</a:t>
            </a:r>
            <a:endParaRPr/>
          </a:p>
          <a:p>
            <a:pPr indent="0" lvl="0" marL="0" rtl="0" algn="l">
              <a:spcBef>
                <a:spcPts val="0"/>
              </a:spcBef>
              <a:spcAft>
                <a:spcPts val="0"/>
              </a:spcAft>
              <a:buNone/>
            </a:pPr>
            <a:r>
              <a:rPr b="1" lang="de-DE"/>
              <a:t>Aufgabenbeschreibung der Klasse:</a:t>
            </a:r>
            <a:r>
              <a:rPr lang="de-DE"/>
              <a:t> &gt; Die Klasse fungiert als Basisklasse für den Datenbankzugriff. Sie übernimmt die gesamte Boilerplate-Logik (Verbindungsaufbau, Erstellung von PreparedStatements, Auslesen von ResultSets und Exception-Handling), die für die Kommunikation mit der SQLite-Datenbank notwendig ist. Über generische Methoden wie </a:t>
            </a:r>
            <a:r>
              <a:rPr lang="de-DE" sz="1200">
                <a:solidFill>
                  <a:schemeClr val="dk1"/>
                </a:solidFill>
                <a:latin typeface="Arial"/>
                <a:ea typeface="Arial"/>
                <a:cs typeface="Arial"/>
                <a:sym typeface="Arial"/>
              </a:rPr>
              <a:t>queryList()</a:t>
            </a:r>
            <a:r>
              <a:rPr lang="de-DE"/>
              <a:t> stellt sie diese Funktionalität zur Verfügung.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de-DE"/>
              <a:t>Begründung für Geringe Kopplung (Low Coupling):</a:t>
            </a:r>
            <a:r>
              <a:rPr lang="de-DE"/>
              <a:t> Ohne diese Basisklasse müsste jedes einzelne der über 10 konkreten Repositories (z. B. </a:t>
            </a:r>
            <a:r>
              <a:rPr lang="de-DE" sz="1200">
                <a:solidFill>
                  <a:schemeClr val="dk1"/>
                </a:solidFill>
                <a:latin typeface="Arial"/>
                <a:ea typeface="Arial"/>
                <a:cs typeface="Arial"/>
                <a:sym typeface="Arial"/>
              </a:rPr>
              <a:t>UserRepository</a:t>
            </a:r>
            <a:r>
              <a:rPr lang="de-DE"/>
              <a:t>, </a:t>
            </a:r>
            <a:r>
              <a:rPr lang="de-DE" sz="1200">
                <a:solidFill>
                  <a:schemeClr val="dk1"/>
                </a:solidFill>
                <a:latin typeface="Arial"/>
                <a:ea typeface="Arial"/>
                <a:cs typeface="Arial"/>
                <a:sym typeface="Arial"/>
              </a:rPr>
              <a:t>CpuRepository</a:t>
            </a:r>
            <a:r>
              <a:rPr lang="de-DE"/>
              <a:t>) eigene Abhängigkeiten zu den Java-SQL-Klassen (</a:t>
            </a:r>
            <a:r>
              <a:rPr lang="de-DE" sz="1200">
                <a:solidFill>
                  <a:schemeClr val="dk1"/>
                </a:solidFill>
                <a:latin typeface="Arial"/>
                <a:ea typeface="Arial"/>
                <a:cs typeface="Arial"/>
                <a:sym typeface="Arial"/>
              </a:rPr>
              <a:t>Connection</a:t>
            </a:r>
            <a:r>
              <a:rPr lang="de-DE"/>
              <a:t>, </a:t>
            </a:r>
            <a:r>
              <a:rPr lang="de-DE" sz="1200">
                <a:solidFill>
                  <a:schemeClr val="dk1"/>
                </a:solidFill>
                <a:latin typeface="Arial"/>
                <a:ea typeface="Arial"/>
                <a:cs typeface="Arial"/>
                <a:sym typeface="Arial"/>
              </a:rPr>
              <a:t>PreparedStatement</a:t>
            </a:r>
            <a:r>
              <a:rPr lang="de-DE"/>
              <a:t>, </a:t>
            </a:r>
            <a:r>
              <a:rPr lang="de-DE" sz="1200">
                <a:solidFill>
                  <a:schemeClr val="dk1"/>
                </a:solidFill>
                <a:latin typeface="Arial"/>
                <a:ea typeface="Arial"/>
                <a:cs typeface="Arial"/>
                <a:sym typeface="Arial"/>
              </a:rPr>
              <a:t>ResultSet</a:t>
            </a:r>
            <a:r>
              <a:rPr lang="de-DE"/>
              <a:t>, </a:t>
            </a:r>
            <a:r>
              <a:rPr lang="de-DE" sz="1200">
                <a:solidFill>
                  <a:schemeClr val="dk1"/>
                </a:solidFill>
                <a:latin typeface="Arial"/>
                <a:ea typeface="Arial"/>
                <a:cs typeface="Arial"/>
                <a:sym typeface="Arial"/>
              </a:rPr>
              <a:t>SQLException</a:t>
            </a:r>
            <a:r>
              <a:rPr lang="de-DE"/>
              <a:t>) aufbauen. Das würde zu einer extrem hohen Kopplung zwischen der Adapter-Schicht und der SQL-Bibliothek führen.</a:t>
            </a:r>
            <a:endParaRPr/>
          </a:p>
          <a:p>
            <a:pPr indent="0" lvl="0" marL="0" rtl="0" algn="l">
              <a:spcBef>
                <a:spcPts val="0"/>
              </a:spcBef>
              <a:spcAft>
                <a:spcPts val="0"/>
              </a:spcAft>
              <a:buNone/>
            </a:pPr>
            <a:r>
              <a:rPr lang="de-DE"/>
              <a:t>Durch die </a:t>
            </a:r>
            <a:r>
              <a:rPr lang="de-DE" sz="1200">
                <a:solidFill>
                  <a:schemeClr val="dk1"/>
                </a:solidFill>
                <a:latin typeface="Arial"/>
                <a:ea typeface="Arial"/>
                <a:cs typeface="Arial"/>
                <a:sym typeface="Arial"/>
              </a:rPr>
              <a:t>JdbcRepository</a:t>
            </a:r>
            <a:r>
              <a:rPr lang="de-DE"/>
              <a:t> wird das GRASP-Prinzip </a:t>
            </a:r>
            <a:r>
              <a:rPr i="1" lang="de-DE"/>
              <a:t>Geringe Kopplung</a:t>
            </a:r>
            <a:r>
              <a:rPr lang="de-DE"/>
              <a:t> umgesetzt: Alle aufrufenden Unterklassen delegieren die Datenbankaufrufe an die Basisklasse und sind selbst nicht mehr an das zugrundeliegende Framework gekoppelt. Ändert sich etwas an der Datenbanktechnologie, muss nur diese </a:t>
            </a:r>
            <a:r>
              <a:rPr i="1" lang="de-DE"/>
              <a:t>eine</a:t>
            </a:r>
            <a:r>
              <a:rPr lang="de-DE"/>
              <a:t> Klasse angepasst werden, anstatt alle Repositories.</a:t>
            </a:r>
            <a:endParaRPr/>
          </a:p>
          <a:p>
            <a:pPr indent="0" lvl="0" marL="0" rtl="0" algn="l">
              <a:spcBef>
                <a:spcPts val="0"/>
              </a:spcBef>
              <a:spcAft>
                <a:spcPts val="0"/>
              </a:spcAft>
              <a:buNone/>
            </a:pPr>
            <a:r>
              <a:t/>
            </a:r>
            <a:endParaRPr/>
          </a:p>
        </p:txBody>
      </p:sp>
      <p:sp>
        <p:nvSpPr>
          <p:cNvPr id="279" name="Google Shape;27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Die execute Methode ruft polymorph einen Command auf. Das heißt es ist egal welcher Command es ist,  jeder kann „execute“ ausführen </a:t>
            </a:r>
            <a:endParaRPr/>
          </a:p>
          <a:p>
            <a:pPr indent="0" lvl="0" marL="0" rtl="0" algn="l">
              <a:spcBef>
                <a:spcPts val="0"/>
              </a:spcBef>
              <a:spcAft>
                <a:spcPts val="0"/>
              </a:spcAft>
              <a:buNone/>
            </a:pPr>
            <a:r>
              <a:rPr lang="de-DE"/>
              <a:t>- also das MenuItem agiert unabhängig davon, welcher COmmand ausgeführt wird </a:t>
            </a:r>
            <a:endParaRPr/>
          </a:p>
        </p:txBody>
      </p:sp>
      <p:sp>
        <p:nvSpPr>
          <p:cNvPr id="286" name="Google Shape;28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Hier sind natürlich nicht nur die 3 Commands sonder alle Commands gemeint, die nicht gerendert werden (also Show Commands erben nicht von Icommand sonder von Renderable)</a:t>
            </a:r>
            <a:endParaRPr/>
          </a:p>
          <a:p>
            <a:pPr indent="-171450" lvl="0" marL="171450" rtl="0" algn="l">
              <a:spcBef>
                <a:spcPts val="0"/>
              </a:spcBef>
              <a:spcAft>
                <a:spcPts val="0"/>
              </a:spcAft>
              <a:buClr>
                <a:schemeClr val="dk1"/>
              </a:buClr>
              <a:buSzPts val="1200"/>
              <a:buFont typeface="Arial"/>
              <a:buChar char="-"/>
            </a:pPr>
            <a:r>
              <a:rPr lang="de-DE"/>
              <a:t>Das System weiß zur Laufzeit ob ein SaveDraftCommand, Login Command etc, durchgeführt wird </a:t>
            </a:r>
            <a:endParaRPr/>
          </a:p>
        </p:txBody>
      </p:sp>
      <p:sp>
        <p:nvSpPr>
          <p:cNvPr id="294" name="Google Shape;29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a:t>Die Funktionalität, die den Computer als Tabelle anzeigt, ist für den Draft gleich. Jedoch wird der Code wiederholt aufgeschrieben.</a:t>
            </a:r>
            <a:endParaRPr/>
          </a:p>
        </p:txBody>
      </p:sp>
      <p:sp>
        <p:nvSpPr>
          <p:cNvPr id="300" name="Google Shape;30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de-DE"/>
              <a:t>Commit: 72507d2: bei diesem Commit wurde das ganz aufgelöst </a:t>
            </a:r>
            <a:endParaRPr b="1"/>
          </a:p>
        </p:txBody>
      </p:sp>
      <p:sp>
        <p:nvSpPr>
          <p:cNvPr id="310" name="Google Shape;31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Automatic bedeutet, dass die Tests komplett ohne slebständig ohne manuelle Eingriffe ausgeführt werden und ihre Ergebnisse slebständig bewerten </a:t>
            </a:r>
            <a:endParaRPr/>
          </a:p>
          <a:p>
            <a:pPr indent="-171450" lvl="0" marL="171450" rtl="0" algn="l">
              <a:spcBef>
                <a:spcPts val="0"/>
              </a:spcBef>
              <a:spcAft>
                <a:spcPts val="0"/>
              </a:spcAft>
              <a:buClr>
                <a:schemeClr val="dk1"/>
              </a:buClr>
              <a:buSzPts val="1200"/>
              <a:buFont typeface="Arial"/>
              <a:buChar char="-"/>
            </a:pPr>
            <a:r>
              <a:rPr lang="de-DE"/>
              <a:t>Wir haben ein ByteArray damit kein Mensch die Zahlenfolgen eintippen muss </a:t>
            </a:r>
            <a:endParaRPr/>
          </a:p>
          <a:p>
            <a:pPr indent="-95250" lvl="0" marL="171450" rtl="0" algn="l">
              <a:spcBef>
                <a:spcPts val="0"/>
              </a:spcBef>
              <a:spcAft>
                <a:spcPts val="0"/>
              </a:spcAft>
              <a:buClr>
                <a:schemeClr val="dk1"/>
              </a:buClr>
              <a:buSzPts val="1200"/>
              <a:buFont typeface="Arial"/>
              <a:buNone/>
            </a:pPr>
            <a:r>
              <a:t/>
            </a:r>
            <a:endParaRPr/>
          </a:p>
        </p:txBody>
      </p:sp>
      <p:sp>
        <p:nvSpPr>
          <p:cNvPr id="387" name="Google Shape;387;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Die Testabdeckung ist bestimmt nicht 100% vollständig aber es gibt immer sowohl positive als auch  negative Tests</a:t>
            </a:r>
            <a:endParaRPr/>
          </a:p>
        </p:txBody>
      </p:sp>
      <p:sp>
        <p:nvSpPr>
          <p:cNvPr id="416" name="Google Shape;41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b9aec7bfb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db9aec7bfb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Die Testabdeckung ist nich so perrfekt aber es gibt immer sowohl positive als auch  negative </a:t>
            </a:r>
            <a:endParaRPr/>
          </a:p>
          <a:p>
            <a:pPr indent="-171450" lvl="0" marL="171450" rtl="0" algn="l">
              <a:spcBef>
                <a:spcPts val="0"/>
              </a:spcBef>
              <a:spcAft>
                <a:spcPts val="0"/>
              </a:spcAft>
              <a:buClr>
                <a:schemeClr val="dk1"/>
              </a:buClr>
              <a:buSzPts val="1200"/>
              <a:buFont typeface="Arial"/>
              <a:buChar char="-"/>
            </a:pPr>
            <a:r>
              <a:rPr lang="de-DE"/>
              <a:t>Die Domainlogik ist mit 89% gut abgedeckt (das innerste ist gut getestet)</a:t>
            </a:r>
            <a:endParaRPr/>
          </a:p>
          <a:p>
            <a:pPr indent="-184150" lvl="0" marL="171450" rtl="0" algn="l">
              <a:spcBef>
                <a:spcPts val="0"/>
              </a:spcBef>
              <a:spcAft>
                <a:spcPts val="0"/>
              </a:spcAft>
              <a:buSzPts val="1400"/>
              <a:buChar char="-"/>
            </a:pPr>
            <a:r>
              <a:rPr lang="de-DE"/>
              <a:t>Repositorys sind mit 85% gut abgedeckt, SQLite mit 84% gut -&gt; Datenbankschnittstellen funktioniren gut</a:t>
            </a:r>
            <a:endParaRPr/>
          </a:p>
          <a:p>
            <a:pPr indent="-184150" lvl="0" marL="171450" rtl="0" algn="l">
              <a:spcBef>
                <a:spcPts val="0"/>
              </a:spcBef>
              <a:spcAft>
                <a:spcPts val="0"/>
              </a:spcAft>
              <a:buSzPts val="1400"/>
              <a:buChar char="-"/>
            </a:pPr>
            <a:r>
              <a:rPr lang="de-DE"/>
              <a:t>0% ist nur das Hauptpaket in dem nur ColorConstants und Main liegen </a:t>
            </a:r>
            <a:endParaRPr/>
          </a:p>
          <a:p>
            <a:pPr indent="-184150" lvl="0" marL="171450" rtl="0" algn="l">
              <a:spcBef>
                <a:spcPts val="0"/>
              </a:spcBef>
              <a:spcAft>
                <a:spcPts val="0"/>
              </a:spcAft>
              <a:buSzPts val="1400"/>
              <a:buChar char="-"/>
            </a:pPr>
            <a:r>
              <a:rPr lang="de-DE"/>
              <a:t>Es wurden nur die Basiscommands getestet nich jeder einzelne -&gt; deswegen schlechte Commandabdekcung mit 40%</a:t>
            </a:r>
            <a:endParaRPr/>
          </a:p>
          <a:p>
            <a:pPr indent="-184150" lvl="0" marL="171450" rtl="0" algn="l">
              <a:spcBef>
                <a:spcPts val="0"/>
              </a:spcBef>
              <a:spcAft>
                <a:spcPts val="0"/>
              </a:spcAft>
              <a:buSzPts val="1400"/>
              <a:buChar char="-"/>
            </a:pPr>
            <a:r>
              <a:rPr lang="de-DE"/>
              <a:t>CLI wurde nicht so ausgiebig getestet. Ist schwerer zu testen mit ein und Ausgaben</a:t>
            </a:r>
            <a:endParaRPr/>
          </a:p>
          <a:p>
            <a:pPr indent="-184150" lvl="0" marL="171450" rtl="0" algn="l">
              <a:spcBef>
                <a:spcPts val="0"/>
              </a:spcBef>
              <a:spcAft>
                <a:spcPts val="0"/>
              </a:spcAft>
              <a:buSzPts val="1400"/>
              <a:buChar char="-"/>
            </a:pPr>
            <a:r>
              <a:rPr lang="de-DE"/>
              <a:t>Branchabdeckung könnte noch besser sein also Abdeckung von Verzweigungen (alternative Pfade) </a:t>
            </a:r>
            <a:endParaRPr/>
          </a:p>
          <a:p>
            <a:pPr indent="-184150" lvl="0" marL="171450" rtl="0" algn="l">
              <a:spcBef>
                <a:spcPts val="0"/>
              </a:spcBef>
              <a:spcAft>
                <a:spcPts val="0"/>
              </a:spcAft>
              <a:buSzPts val="1400"/>
              <a:buChar char="-"/>
            </a:pPr>
            <a:r>
              <a:t/>
            </a:r>
            <a:endParaRPr/>
          </a:p>
        </p:txBody>
      </p:sp>
      <p:sp>
        <p:nvSpPr>
          <p:cNvPr id="425" name="Google Shape;425;g3db9aec7bfb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Die Methode run Test Flow nimmt String und baut das Menü auf, sodass nicht jeder Test das einzteln machen muss </a:t>
            </a:r>
            <a:endParaRPr/>
          </a:p>
          <a:p>
            <a:pPr indent="0" lvl="0" marL="0" rtl="0" algn="l">
              <a:spcBef>
                <a:spcPts val="0"/>
              </a:spcBef>
              <a:spcAft>
                <a:spcPts val="0"/>
              </a:spcAft>
              <a:buNone/>
            </a:pPr>
            <a:r>
              <a:t/>
            </a:r>
            <a:endParaRPr/>
          </a:p>
        </p:txBody>
      </p:sp>
      <p:sp>
        <p:nvSpPr>
          <p:cNvPr id="441" name="Google Shape;44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Man weiß so schneller was die einzelnen Zahlenfolgen machen </a:t>
            </a:r>
            <a:endParaRPr/>
          </a:p>
        </p:txBody>
      </p:sp>
      <p:sp>
        <p:nvSpPr>
          <p:cNvPr id="449" name="Google Shape;449;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Aufrufer: UserTest in @BeforeEach wird Mock instanziiert und injiziert ihn in den AppContext über reflection in RunTestFlow (Zugriffsschutz durch final wird aufgehoben)</a:t>
            </a:r>
            <a:endParaRPr/>
          </a:p>
          <a:p>
            <a:pPr indent="-171450" lvl="1" marL="628650" rtl="0" algn="l">
              <a:spcBef>
                <a:spcPts val="0"/>
              </a:spcBef>
              <a:spcAft>
                <a:spcPts val="0"/>
              </a:spcAft>
              <a:buClr>
                <a:schemeClr val="dk1"/>
              </a:buClr>
              <a:buSzPts val="1200"/>
              <a:buFont typeface="Arial"/>
              <a:buChar char="-"/>
            </a:pPr>
            <a:r>
              <a:rPr lang="de-DE"/>
              <a:t>Commands denken sie arbeiten mit echter Datenbank </a:t>
            </a:r>
            <a:endParaRPr/>
          </a:p>
          <a:p>
            <a:pPr indent="-171450" lvl="0" marL="171450" rtl="0" algn="l">
              <a:spcBef>
                <a:spcPts val="0"/>
              </a:spcBef>
              <a:spcAft>
                <a:spcPts val="0"/>
              </a:spcAft>
              <a:buClr>
                <a:schemeClr val="dk1"/>
              </a:buClr>
              <a:buSzPts val="1200"/>
              <a:buFont typeface="Arial"/>
              <a:buChar char="-"/>
            </a:pPr>
            <a:r>
              <a:rPr lang="de-DE"/>
              <a:t>Die zu mockende Klasse: UserReposiory</a:t>
            </a:r>
            <a:endParaRPr/>
          </a:p>
          <a:p>
            <a:pPr indent="-171450" lvl="0" marL="171450" rtl="0" algn="l">
              <a:spcBef>
                <a:spcPts val="0"/>
              </a:spcBef>
              <a:spcAft>
                <a:spcPts val="0"/>
              </a:spcAft>
              <a:buClr>
                <a:schemeClr val="dk1"/>
              </a:buClr>
              <a:buSzPts val="1200"/>
              <a:buFont typeface="Arial"/>
              <a:buChar char="-"/>
            </a:pPr>
            <a:r>
              <a:rPr lang="de-DE"/>
              <a:t>Der Mock/Fake: InMemoryUserRepository und InMemoryComputerRepository</a:t>
            </a:r>
            <a:endParaRPr/>
          </a:p>
          <a:p>
            <a:pPr indent="-171450" lvl="0" marL="171450" rtl="0" algn="l">
              <a:spcBef>
                <a:spcPts val="0"/>
              </a:spcBef>
              <a:spcAft>
                <a:spcPts val="0"/>
              </a:spcAft>
              <a:buClr>
                <a:schemeClr val="dk1"/>
              </a:buClr>
              <a:buSzPts val="1200"/>
              <a:buFont typeface="Arial"/>
              <a:buChar char="-"/>
            </a:pPr>
            <a:r>
              <a:rPr lang="de-DE"/>
              <a:t>Hier sind schon 2 Fake Mock Objekte deswegen nur 1 UML (vllt doch nochmal ändern=?)</a:t>
            </a:r>
            <a:endParaRPr/>
          </a:p>
          <a:p>
            <a:pPr indent="-171450" lvl="0" marL="171450" rtl="0" algn="l">
              <a:spcBef>
                <a:spcPts val="0"/>
              </a:spcBef>
              <a:spcAft>
                <a:spcPts val="0"/>
              </a:spcAft>
              <a:buClr>
                <a:schemeClr val="dk1"/>
              </a:buClr>
              <a:buSzPts val="1200"/>
              <a:buFont typeface="Arial"/>
              <a:buChar char="-"/>
            </a:pPr>
            <a:r>
              <a:rPr lang="de-DE"/>
              <a:t>Wir haben Fakes geschrieben, da wir kein Mocking Framework nutzen durften </a:t>
            </a:r>
            <a:endParaRPr/>
          </a:p>
          <a:p>
            <a:pPr indent="-171450" lvl="0" marL="171450" rtl="0" algn="l">
              <a:spcBef>
                <a:spcPts val="0"/>
              </a:spcBef>
              <a:spcAft>
                <a:spcPts val="0"/>
              </a:spcAft>
              <a:buClr>
                <a:schemeClr val="dk1"/>
              </a:buClr>
              <a:buSzPts val="1200"/>
              <a:buFont typeface="Arial"/>
              <a:buChar char="-"/>
            </a:pPr>
            <a:r>
              <a:rPr lang="de-DE"/>
              <a:t>UserRepo ist stark an SQLite Datenbank gekoppelt. Würde man diese für Tests nutzen, wäre das langsam</a:t>
            </a:r>
            <a:endParaRPr/>
          </a:p>
          <a:p>
            <a:pPr indent="-171450" lvl="0" marL="171450" rtl="0" algn="l">
              <a:spcBef>
                <a:spcPts val="0"/>
              </a:spcBef>
              <a:spcAft>
                <a:spcPts val="0"/>
              </a:spcAft>
              <a:buClr>
                <a:schemeClr val="dk1"/>
              </a:buClr>
              <a:buSzPts val="1200"/>
              <a:buFont typeface="Arial"/>
              <a:buChar char="-"/>
            </a:pPr>
            <a:r>
              <a:rPr lang="de-DE"/>
              <a:t>InMemory Fakes überschreiben produktiven Datenbank Code und halten lediglich eine ArrayList im Arbeitsspeicher </a:t>
            </a:r>
            <a:endParaRPr/>
          </a:p>
        </p:txBody>
      </p:sp>
      <p:sp>
        <p:nvSpPr>
          <p:cNvPr id="457" name="Google Shape;457;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ComputerDraft: beschreibt eine Plan wie der Computer später aussehen sol,l </a:t>
            </a:r>
            <a:endParaRPr/>
          </a:p>
          <a:p>
            <a:pPr indent="-171450" lvl="0" marL="171450" rtl="0" algn="l">
              <a:spcBef>
                <a:spcPts val="0"/>
              </a:spcBef>
              <a:spcAft>
                <a:spcPts val="0"/>
              </a:spcAft>
              <a:buClr>
                <a:schemeClr val="dk1"/>
              </a:buClr>
              <a:buSzPts val="1200"/>
              <a:buFont typeface="Arial"/>
              <a:buChar char="-"/>
            </a:pPr>
            <a:r>
              <a:rPr lang="de-DE"/>
              <a:t>MotherboardFormFactor: Keiner sagt Mainboard-Größe, sondern man spricht vom Formfaktor</a:t>
            </a:r>
            <a:endParaRPr/>
          </a:p>
          <a:p>
            <a:pPr indent="-171450" lvl="0" marL="171450" rtl="0" algn="l">
              <a:spcBef>
                <a:spcPts val="0"/>
              </a:spcBef>
              <a:spcAft>
                <a:spcPts val="0"/>
              </a:spcAft>
              <a:buClr>
                <a:schemeClr val="dk1"/>
              </a:buClr>
              <a:buSzPts val="1200"/>
              <a:buFont typeface="Arial"/>
              <a:buChar char="-"/>
            </a:pPr>
            <a:r>
              <a:rPr lang="de-DE"/>
              <a:t>PowerConsumption: getPowerConsumptionW und getWattage zeigt, dass wir die Begriffe wie in der realen Welt mit Wattangaben nutzen und </a:t>
            </a:r>
            <a:endParaRPr/>
          </a:p>
          <a:p>
            <a:pPr indent="-171450" lvl="0" marL="171450" rtl="0" algn="l">
              <a:spcBef>
                <a:spcPts val="0"/>
              </a:spcBef>
              <a:spcAft>
                <a:spcPts val="0"/>
              </a:spcAft>
              <a:buClr>
                <a:schemeClr val="dk1"/>
              </a:buClr>
              <a:buSzPts val="1200"/>
              <a:buFont typeface="Arial"/>
              <a:buChar char="-"/>
            </a:pPr>
            <a:r>
              <a:rPr lang="de-DE"/>
              <a:t>Bottleneck-Check: In der „Gaming Community“ ist der Bottleneck der Standard für unausgeglichene Teile eines PCs </a:t>
            </a:r>
            <a:endParaRPr/>
          </a:p>
        </p:txBody>
      </p:sp>
      <p:sp>
        <p:nvSpPr>
          <p:cNvPr id="464" name="Google Shape;464;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 Zugriff aus Persistente Daten durch die Repositorys z.B. UserRepository </a:t>
            </a:r>
            <a:endParaRPr/>
          </a:p>
        </p:txBody>
      </p:sp>
      <p:sp>
        <p:nvSpPr>
          <p:cNvPr id="471" name="Google Shape;471;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Aggreagte wurde genutzt, da die PC Teile eine starke Abhängikeit zum Computer haben </a:t>
            </a:r>
            <a:endParaRPr/>
          </a:p>
          <a:p>
            <a:pPr indent="-171450" lvl="0" marL="171450" rtl="0" algn="l">
              <a:spcBef>
                <a:spcPts val="0"/>
              </a:spcBef>
              <a:spcAft>
                <a:spcPts val="0"/>
              </a:spcAft>
              <a:buClr>
                <a:schemeClr val="dk1"/>
              </a:buClr>
              <a:buSzPts val="1200"/>
              <a:buFont typeface="Arial"/>
              <a:buChar char="-"/>
            </a:pPr>
            <a:r>
              <a:rPr lang="de-DE"/>
              <a:t>Aggregate Root: Computer</a:t>
            </a:r>
            <a:endParaRPr/>
          </a:p>
          <a:p>
            <a:pPr indent="-171450" lvl="0" marL="171450" rtl="0" algn="l">
              <a:spcBef>
                <a:spcPts val="0"/>
              </a:spcBef>
              <a:spcAft>
                <a:spcPts val="0"/>
              </a:spcAft>
              <a:buClr>
                <a:schemeClr val="dk1"/>
              </a:buClr>
              <a:buSzPts val="1200"/>
              <a:buFont typeface="Arial"/>
              <a:buChar char="-"/>
            </a:pPr>
            <a:r>
              <a:rPr lang="de-DE"/>
              <a:t>Aggregate Komponenten: CPU, Mainboard, Ram etc. hier nur ein paar aufgezählt, das sonst zu viele Kompoenten </a:t>
            </a:r>
            <a:endParaRPr/>
          </a:p>
          <a:p>
            <a:pPr indent="-171450" lvl="0" marL="171450" rtl="0" algn="l">
              <a:spcBef>
                <a:spcPts val="0"/>
              </a:spcBef>
              <a:spcAft>
                <a:spcPts val="0"/>
              </a:spcAft>
              <a:buClr>
                <a:schemeClr val="dk1"/>
              </a:buClr>
              <a:buSzPts val="1200"/>
              <a:buFont typeface="Arial"/>
              <a:buChar char="-"/>
            </a:pPr>
            <a:r>
              <a:rPr lang="de-DE"/>
              <a:t>Computer können als Entwurf als auch fertig gespeichert werden, wobei sie bei fertig eine Validierung durchlaufen müssen </a:t>
            </a:r>
            <a:endParaRPr/>
          </a:p>
          <a:p>
            <a:pPr indent="-171450" lvl="1" marL="628650" rtl="0" algn="l">
              <a:spcBef>
                <a:spcPts val="0"/>
              </a:spcBef>
              <a:spcAft>
                <a:spcPts val="0"/>
              </a:spcAft>
              <a:buClr>
                <a:schemeClr val="dk1"/>
              </a:buClr>
              <a:buSzPts val="1200"/>
              <a:buFont typeface="Arial"/>
              <a:buChar char="-"/>
            </a:pPr>
            <a:r>
              <a:rPr lang="de-DE"/>
              <a:t>D.h. User kann seine Computer jederzeit speichern </a:t>
            </a:r>
            <a:endParaRPr/>
          </a:p>
          <a:p>
            <a:pPr indent="-171450" lvl="1" marL="628650" rtl="0" algn="l">
              <a:spcBef>
                <a:spcPts val="0"/>
              </a:spcBef>
              <a:spcAft>
                <a:spcPts val="0"/>
              </a:spcAft>
              <a:buClr>
                <a:schemeClr val="dk1"/>
              </a:buClr>
              <a:buSzPts val="1200"/>
              <a:buFont typeface="Arial"/>
              <a:buChar char="-"/>
            </a:pPr>
            <a:r>
              <a:rPr lang="de-DE"/>
              <a:t>Konsistenzgrenze, wenn der Computer gebaut werden soll</a:t>
            </a:r>
            <a:endParaRPr/>
          </a:p>
        </p:txBody>
      </p:sp>
      <p:sp>
        <p:nvSpPr>
          <p:cNvPr id="478" name="Google Shape;478;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Computer.java ist eine Entity, da sich ein Computer durch seine eigene ID identifziert und kein anderer Computer wird, wenn man </a:t>
            </a:r>
            <a:r>
              <a:rPr lang="de-DE"/>
              <a:t>beispielsweise</a:t>
            </a:r>
            <a:r>
              <a:rPr lang="de-DE"/>
              <a:t> die Grafikkarte wechselt</a:t>
            </a:r>
            <a:endParaRPr/>
          </a:p>
          <a:p>
            <a:pPr indent="-171450" lvl="0" marL="171450" rtl="0" algn="l">
              <a:spcBef>
                <a:spcPts val="0"/>
              </a:spcBef>
              <a:spcAft>
                <a:spcPts val="0"/>
              </a:spcAft>
              <a:buClr>
                <a:schemeClr val="dk1"/>
              </a:buClr>
              <a:buSzPts val="1200"/>
              <a:buFont typeface="Arial"/>
              <a:buChar char="-"/>
            </a:pPr>
            <a:r>
              <a:rPr lang="de-DE"/>
              <a:t>Hier gleiches UML, da es auch um Computer geht</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p:txBody>
      </p:sp>
      <p:sp>
        <p:nvSpPr>
          <p:cNvPr id="485" name="Google Shape;485;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MotherboardFormFactor.java</a:t>
            </a:r>
            <a:endParaRPr/>
          </a:p>
          <a:p>
            <a:pPr indent="-171450" lvl="0" marL="171450" marR="0" rtl="0" algn="l">
              <a:lnSpc>
                <a:spcPct val="100000"/>
              </a:lnSpc>
              <a:spcBef>
                <a:spcPts val="0"/>
              </a:spcBef>
              <a:spcAft>
                <a:spcPts val="0"/>
              </a:spcAft>
              <a:buClr>
                <a:schemeClr val="dk1"/>
              </a:buClr>
              <a:buSzPts val="1200"/>
              <a:buFont typeface="Arial"/>
              <a:buChar char="-"/>
            </a:pPr>
            <a:r>
              <a:rPr lang="de-DE"/>
              <a:t>Wichtige Eigenschaften Value Objects: Unveränderlichkeit (Immutability)  </a:t>
            </a:r>
            <a:endParaRPr/>
          </a:p>
          <a:p>
            <a:pPr indent="-171450" lvl="0" marL="171450" rtl="0" algn="l">
              <a:spcBef>
                <a:spcPts val="0"/>
              </a:spcBef>
              <a:spcAft>
                <a:spcPts val="0"/>
              </a:spcAft>
              <a:buClr>
                <a:schemeClr val="dk1"/>
              </a:buClr>
              <a:buSzPts val="1200"/>
              <a:buFont typeface="Arial"/>
              <a:buChar char="-"/>
            </a:pPr>
            <a:r>
              <a:rPr lang="de-DE"/>
              <a:t>Die Id des MotherboardFormFactor ist nur ein technisches Hilfsmittel, damit man nicht 1000 Mal ATX oder so etwas speichern muss in der Datenbank </a:t>
            </a:r>
            <a:endParaRPr/>
          </a:p>
          <a:p>
            <a:pPr indent="-171450" lvl="0" marL="171450" rtl="0" algn="l">
              <a:spcBef>
                <a:spcPts val="0"/>
              </a:spcBef>
              <a:spcAft>
                <a:spcPts val="0"/>
              </a:spcAft>
              <a:buClr>
                <a:schemeClr val="dk1"/>
              </a:buClr>
              <a:buSzPts val="1200"/>
              <a:buFont typeface="Arial"/>
              <a:buChar char="-"/>
            </a:pPr>
            <a:r>
              <a:rPr lang="de-DE"/>
              <a:t>Ein MotheroardFormFactor wie ATX hat keine Identität; zweo Formfaktor Objekte mit demselben Namen sind konzeptionell identisch </a:t>
            </a:r>
            <a:endParaRPr/>
          </a:p>
          <a:p>
            <a:pPr indent="-171450" lvl="0" marL="171450" rtl="0" algn="l">
              <a:spcBef>
                <a:spcPts val="0"/>
              </a:spcBef>
              <a:spcAft>
                <a:spcPts val="0"/>
              </a:spcAft>
              <a:buClr>
                <a:schemeClr val="dk1"/>
              </a:buClr>
              <a:buSzPts val="1200"/>
              <a:buFont typeface="Arial"/>
              <a:buChar char="-"/>
            </a:pPr>
            <a:r>
              <a:rPr lang="de-DE"/>
              <a:t>Wenn man die Größe des Bauteils ändern sollte so wird ein neues Objekt zugewiesen </a:t>
            </a:r>
            <a:endParaRPr/>
          </a:p>
          <a:p>
            <a:pPr indent="-171450" lvl="0" marL="171450" rtl="0" algn="l">
              <a:spcBef>
                <a:spcPts val="0"/>
              </a:spcBef>
              <a:spcAft>
                <a:spcPts val="0"/>
              </a:spcAft>
              <a:buClr>
                <a:schemeClr val="dk1"/>
              </a:buClr>
              <a:buSzPts val="1200"/>
              <a:buFont typeface="Arial"/>
              <a:buChar char="-"/>
            </a:pPr>
            <a:r>
              <a:rPr lang="de-DE"/>
              <a:t>Die Attribute eines Value Objects sind unveränderlich. Änder man in diesem Fall den namen des FormFactors wird ein anderer FormFaktor also ein neues Objekt daraus </a:t>
            </a:r>
            <a:endParaRPr/>
          </a:p>
        </p:txBody>
      </p:sp>
      <p:sp>
        <p:nvSpPr>
          <p:cNvPr id="492" name="Google Shape;492;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Erster Code Smell ist eine LongMethod in Computer.builder (validate Methode) </a:t>
            </a:r>
            <a:endParaRPr/>
          </a:p>
          <a:p>
            <a:pPr indent="-171450" lvl="0" marL="171450" rtl="0" algn="l">
              <a:spcBef>
                <a:spcPts val="0"/>
              </a:spcBef>
              <a:spcAft>
                <a:spcPts val="0"/>
              </a:spcAft>
              <a:buClr>
                <a:schemeClr val="dk1"/>
              </a:buClr>
              <a:buSzPts val="1200"/>
              <a:buFont typeface="Arial"/>
              <a:buChar char="-"/>
            </a:pPr>
            <a:r>
              <a:rPr lang="de-DE"/>
              <a:t>Problem: sehr viele if Abfragen intereinander die auf null prüfen, ob der CPU Sockel passt, das Mainboard ins Gehäuse passt, genug RAM-Slots vorhanden sind und ob das Netzteil genügend Watt liefert </a:t>
            </a:r>
            <a:endParaRPr/>
          </a:p>
        </p:txBody>
      </p:sp>
      <p:sp>
        <p:nvSpPr>
          <p:cNvPr id="499" name="Google Shape;499;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In Computer.builder </a:t>
            </a:r>
            <a:endParaRPr/>
          </a:p>
          <a:p>
            <a:pPr indent="-171450" lvl="0" marL="171450" rtl="0" algn="l">
              <a:spcBef>
                <a:spcPts val="0"/>
              </a:spcBef>
              <a:spcAft>
                <a:spcPts val="0"/>
              </a:spcAft>
              <a:buClr>
                <a:schemeClr val="dk1"/>
              </a:buClr>
              <a:buSzPts val="1200"/>
              <a:buFont typeface="Arial"/>
              <a:buChar char="-"/>
            </a:pPr>
            <a:r>
              <a:rPr lang="de-DE"/>
              <a:t>Möglicher Lösungsweg: Auslagern mehrer kleiner privater Hilfsmethoden </a:t>
            </a:r>
            <a:endParaRPr/>
          </a:p>
          <a:p>
            <a:pPr indent="-171450" lvl="0" marL="171450" rtl="0" algn="l">
              <a:spcBef>
                <a:spcPts val="0"/>
              </a:spcBef>
              <a:spcAft>
                <a:spcPts val="0"/>
              </a:spcAft>
              <a:buClr>
                <a:schemeClr val="dk1"/>
              </a:buClr>
              <a:buSzPts val="1200"/>
              <a:buFont typeface="Arial"/>
              <a:buChar char="-"/>
            </a:pPr>
            <a:r>
              <a:rPr lang="de-DE"/>
              <a:t>validatePowersupply, validateSocketCompatiblity, validateFormFactors,hasAllRequiredComponents</a:t>
            </a:r>
            <a:endParaRPr/>
          </a:p>
        </p:txBody>
      </p:sp>
      <p:sp>
        <p:nvSpPr>
          <p:cNvPr id="506" name="Google Shape;506;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TableUtils wurde eigentlich schon verbessert aber es hat sich ein neuer Smell eingschlichen.</a:t>
            </a:r>
            <a:endParaRPr/>
          </a:p>
          <a:p>
            <a:pPr indent="0" lvl="0" marL="0" rtl="0" algn="l">
              <a:spcBef>
                <a:spcPts val="0"/>
              </a:spcBef>
              <a:spcAft>
                <a:spcPts val="0"/>
              </a:spcAft>
              <a:buNone/>
            </a:pPr>
            <a:r>
              <a:rPr lang="de-DE"/>
              <a:t>Die Parameterliste von  buildTableRows() ist sehr lange geworden </a:t>
            </a:r>
            <a:endParaRPr/>
          </a:p>
        </p:txBody>
      </p:sp>
      <p:sp>
        <p:nvSpPr>
          <p:cNvPr id="513" name="Google Shape;513;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Hinzufügen eiens Interfaces, dieses Implementieren sowohl Computer als auch ComputerDraft -&gt; das zwingt auch einheitliche Methodennnamen zu verwenden in beiden Klassen </a:t>
            </a:r>
            <a:endParaRPr/>
          </a:p>
          <a:p>
            <a:pPr indent="-171450" lvl="0" marL="171450" rtl="0" algn="l">
              <a:spcBef>
                <a:spcPts val="0"/>
              </a:spcBef>
              <a:spcAft>
                <a:spcPts val="0"/>
              </a:spcAft>
              <a:buClr>
                <a:schemeClr val="dk1"/>
              </a:buClr>
              <a:buSzPts val="1200"/>
              <a:buFont typeface="Arial"/>
              <a:buChar char="-"/>
            </a:pPr>
            <a:r>
              <a:rPr lang="de-DE"/>
              <a:t>Interface dient als Wrapper </a:t>
            </a:r>
            <a:endParaRPr/>
          </a:p>
          <a:p>
            <a:pPr indent="-171450" lvl="0" marL="171450" rtl="0" algn="l">
              <a:spcBef>
                <a:spcPts val="0"/>
              </a:spcBef>
              <a:spcAft>
                <a:spcPts val="0"/>
              </a:spcAft>
              <a:buClr>
                <a:schemeClr val="dk1"/>
              </a:buClr>
              <a:buSzPts val="1200"/>
              <a:buFont typeface="Arial"/>
              <a:buChar char="-"/>
            </a:pPr>
            <a:r>
              <a:rPr lang="de-DE"/>
              <a:t>Man kann der Methode einfach das Komplette Objekt übergeben -&gt; Paramterliste hat nur noch einen Parameter </a:t>
            </a:r>
            <a:endParaRPr/>
          </a:p>
          <a:p>
            <a:pPr indent="-171450" lvl="0" marL="171450" rtl="0" algn="l">
              <a:spcBef>
                <a:spcPts val="0"/>
              </a:spcBef>
              <a:spcAft>
                <a:spcPts val="0"/>
              </a:spcAft>
              <a:buClr>
                <a:schemeClr val="dk1"/>
              </a:buClr>
              <a:buSzPts val="1200"/>
              <a:buFont typeface="Arial"/>
              <a:buChar char="-"/>
            </a:pPr>
            <a:r>
              <a:rPr lang="de-DE"/>
              <a:t>BuildTableRows ist natürlich abgekürzt hier fehlen noch der restliche Aufbau </a:t>
            </a:r>
            <a:endParaRPr/>
          </a:p>
        </p:txBody>
      </p:sp>
      <p:sp>
        <p:nvSpPr>
          <p:cNvPr id="521" name="Google Shape;521;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de-DE"/>
              <a:t>Vorher: hier wurde die Logik für das Paging direkt in den Commands verwendet die sie nutzten</a:t>
            </a:r>
            <a:endParaRPr/>
          </a:p>
          <a:p>
            <a:pPr indent="-171450" lvl="0" marL="171450" rtl="0" algn="l">
              <a:spcBef>
                <a:spcPts val="0"/>
              </a:spcBef>
              <a:spcAft>
                <a:spcPts val="0"/>
              </a:spcAft>
              <a:buClr>
                <a:schemeClr val="dk1"/>
              </a:buClr>
              <a:buSzPts val="1200"/>
              <a:buFont typeface="Arial"/>
              <a:buChar char="-"/>
            </a:pPr>
            <a:r>
              <a:rPr lang="de-DE"/>
              <a:t>Nachher: die Paging-Logik wurde in eine Klasse ausgelagert, sodass hier kein duplizierter Code geschrieben wird und das ganze einfacher wartbar und wiederverwendbar ist </a:t>
            </a:r>
            <a:endParaRPr/>
          </a:p>
        </p:txBody>
      </p:sp>
      <p:sp>
        <p:nvSpPr>
          <p:cNvPr id="528" name="Google Shape;528;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971f4c780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de-DE"/>
              <a:t>Jedes Repository verwaltete Connection/PreparedStatement/ResultSet selbst.</a:t>
            </a:r>
            <a:endParaRPr/>
          </a:p>
          <a:p>
            <a:pPr indent="0" lvl="0" marL="0" rtl="0" algn="l">
              <a:spcBef>
                <a:spcPts val="0"/>
              </a:spcBef>
              <a:spcAft>
                <a:spcPts val="0"/>
              </a:spcAft>
              <a:buNone/>
            </a:pPr>
            <a:r>
              <a:rPr lang="de-DE"/>
              <a:t>Das erzeugte Boilerplate und uneinheitliches Fehlerhandling.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38" name="Google Shape;538;g3971f4c780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971f4c7808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a:t>Wir haben repetitiven SQL-Infra-Code aus allen Repositories in eine gemeinsame JDBC-Basisklasse gezogen, dadurch weniger Duplikate, einheitliches Fehlerhandling und deutlich wartbarere Repository-Klassen.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de-DE"/>
              <a:t>Extracted Method ist auch dabei weil die Logik in kleinere methoden ausgelagert werden (beispiel Map User was davor direkt in query blöcken eingebettet war (UserRepository.java))</a:t>
            </a:r>
            <a:endParaRPr/>
          </a:p>
          <a:p>
            <a:pPr indent="0" lvl="0" marL="0" rtl="0" algn="l">
              <a:spcBef>
                <a:spcPts val="0"/>
              </a:spcBef>
              <a:spcAft>
                <a:spcPts val="0"/>
              </a:spcAft>
              <a:buClr>
                <a:schemeClr val="dk1"/>
              </a:buClr>
              <a:buSzPts val="1100"/>
              <a:buFont typeface="Arial"/>
              <a:buNone/>
            </a:pPr>
            <a:r>
              <a:rPr lang="de-DE"/>
              <a:t>Implizit wurde auch Long method verbessert wegen der aufteilung und verringerung von duplicates</a:t>
            </a:r>
            <a:endParaRPr/>
          </a:p>
        </p:txBody>
      </p:sp>
      <p:sp>
        <p:nvSpPr>
          <p:cNvPr id="545" name="Google Shape;545;g3971f4c7808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sz="1000"/>
              <a:t>Warum sinnvoll:</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de-DE" sz="1000"/>
              <a:t>Computer hat viele optionale/abhängige Teile (CPU, GPU, RAM, PSU, Storage).</a:t>
            </a:r>
            <a:endParaRPr sz="1000"/>
          </a:p>
          <a:p>
            <a:pPr indent="0" lvl="0" marL="0" rtl="0" algn="l">
              <a:spcBef>
                <a:spcPts val="0"/>
              </a:spcBef>
              <a:spcAft>
                <a:spcPts val="0"/>
              </a:spcAft>
              <a:buNone/>
            </a:pPr>
            <a:r>
              <a:rPr lang="de-DE" sz="1000"/>
              <a:t>Vermeidet lange/fehleranfällige Konstruktoren.</a:t>
            </a:r>
            <a:endParaRPr sz="1000"/>
          </a:p>
          <a:p>
            <a:pPr indent="0" lvl="0" marL="0" rtl="0" algn="l">
              <a:spcBef>
                <a:spcPts val="0"/>
              </a:spcBef>
              <a:spcAft>
                <a:spcPts val="0"/>
              </a:spcAft>
              <a:buNone/>
            </a:pPr>
            <a:r>
              <a:rPr lang="de-DE" sz="1000"/>
              <a:t>Unterstützt schrittweise Konfiguration und Validierung.</a:t>
            </a:r>
            <a:endParaRPr sz="1000"/>
          </a:p>
        </p:txBody>
      </p:sp>
      <p:sp>
        <p:nvSpPr>
          <p:cNvPr id="551" name="Google Shape;551;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971f4c7808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de-DE" sz="1000"/>
              <a:t>Warum sinnvoll:</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de-DE" sz="1000"/>
              <a:t>Computer hat viele optionale/abhängige Teile (CPU, GPU, RAM, PSU, Storage).</a:t>
            </a:r>
            <a:endParaRPr sz="1000"/>
          </a:p>
          <a:p>
            <a:pPr indent="0" lvl="0" marL="0" rtl="0" algn="l">
              <a:spcBef>
                <a:spcPts val="0"/>
              </a:spcBef>
              <a:spcAft>
                <a:spcPts val="0"/>
              </a:spcAft>
              <a:buNone/>
            </a:pPr>
            <a:r>
              <a:rPr lang="de-DE" sz="1000"/>
              <a:t>Vermeidet lange/fehleranfällige Konstruktoren.</a:t>
            </a:r>
            <a:endParaRPr sz="1000"/>
          </a:p>
          <a:p>
            <a:pPr indent="0" lvl="0" marL="0" rtl="0" algn="l">
              <a:spcBef>
                <a:spcPts val="0"/>
              </a:spcBef>
              <a:spcAft>
                <a:spcPts val="0"/>
              </a:spcAft>
              <a:buNone/>
            </a:pPr>
            <a:r>
              <a:rPr lang="de-DE" sz="1000"/>
              <a:t>Unterstützt schrittweise Konfiguration und Validierung.</a:t>
            </a:r>
            <a:endParaRPr sz="1000"/>
          </a:p>
        </p:txBody>
      </p:sp>
      <p:sp>
        <p:nvSpPr>
          <p:cNvPr id="558" name="Google Shape;558;g3971f4c7808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971f4c7808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92100" lvl="0" marL="469900" marR="38100" rtl="0" algn="l">
              <a:lnSpc>
                <a:spcPct val="115000"/>
              </a:lnSpc>
              <a:spcBef>
                <a:spcPts val="1300"/>
              </a:spcBef>
              <a:spcAft>
                <a:spcPts val="0"/>
              </a:spcAft>
              <a:buClr>
                <a:schemeClr val="dk1"/>
              </a:buClr>
              <a:buSzPts val="1000"/>
              <a:buChar char="●"/>
            </a:pPr>
            <a:r>
              <a:rPr lang="de-DE" sz="1000"/>
              <a:t>Gemeinsame Komponentenschnittstelle in </a:t>
            </a:r>
            <a:r>
              <a:rPr lang="de-DE" sz="900"/>
              <a:t>IMenuComponent.java</a:t>
            </a:r>
            <a:endParaRPr sz="900"/>
          </a:p>
          <a:p>
            <a:pPr indent="-292100" lvl="0" marL="469900" marR="38100" rtl="0" algn="l">
              <a:lnSpc>
                <a:spcPct val="115000"/>
              </a:lnSpc>
              <a:spcBef>
                <a:spcPts val="0"/>
              </a:spcBef>
              <a:spcAft>
                <a:spcPts val="0"/>
              </a:spcAft>
              <a:buClr>
                <a:schemeClr val="dk1"/>
              </a:buClr>
              <a:buSzPts val="1000"/>
              <a:buChar char="●"/>
            </a:pPr>
            <a:r>
              <a:rPr lang="de-DE" sz="1000"/>
              <a:t>Composite-Knoten in </a:t>
            </a:r>
            <a:r>
              <a:rPr lang="de-DE" sz="900"/>
              <a:t>Menu.java</a:t>
            </a:r>
            <a:endParaRPr sz="900"/>
          </a:p>
          <a:p>
            <a:pPr indent="-292100" lvl="0" marL="469900" marR="38100" rtl="0" algn="l">
              <a:lnSpc>
                <a:spcPct val="115000"/>
              </a:lnSpc>
              <a:spcBef>
                <a:spcPts val="0"/>
              </a:spcBef>
              <a:spcAft>
                <a:spcPts val="0"/>
              </a:spcAft>
              <a:buClr>
                <a:schemeClr val="dk1"/>
              </a:buClr>
              <a:buSzPts val="1000"/>
              <a:buChar char="●"/>
            </a:pPr>
            <a:r>
              <a:rPr lang="de-DE" sz="1000"/>
              <a:t>Leaf-Knoten in </a:t>
            </a:r>
            <a:r>
              <a:rPr lang="de-DE" sz="900"/>
              <a:t>MenuItem.java</a:t>
            </a:r>
            <a:endParaRPr sz="900"/>
          </a:p>
          <a:p>
            <a:pPr indent="-292100" lvl="0" marL="469900" marR="38100" rtl="0" algn="l">
              <a:lnSpc>
                <a:spcPct val="115000"/>
              </a:lnSpc>
              <a:spcBef>
                <a:spcPts val="0"/>
              </a:spcBef>
              <a:spcAft>
                <a:spcPts val="0"/>
              </a:spcAft>
              <a:buClr>
                <a:schemeClr val="dk1"/>
              </a:buClr>
              <a:buSzPts val="1000"/>
              <a:buChar char="●"/>
            </a:pPr>
            <a:r>
              <a:rPr lang="de-DE" sz="1000"/>
              <a:t>Zusammensetzen in </a:t>
            </a:r>
            <a:r>
              <a:rPr lang="de-DE" sz="900"/>
              <a:t>MenuFactory.java</a:t>
            </a:r>
            <a:endParaRPr sz="1000"/>
          </a:p>
          <a:p>
            <a:pPr indent="0" lvl="0" marL="0" rtl="0" algn="l">
              <a:lnSpc>
                <a:spcPct val="115000"/>
              </a:lnSpc>
              <a:spcBef>
                <a:spcPts val="1300"/>
              </a:spcBef>
              <a:spcAft>
                <a:spcPts val="0"/>
              </a:spcAft>
              <a:buClr>
                <a:schemeClr val="dk1"/>
              </a:buClr>
              <a:buSzPts val="1100"/>
              <a:buFont typeface="Arial"/>
              <a:buNone/>
            </a:pPr>
            <a:r>
              <a:rPr lang="de-DE" sz="1000"/>
              <a:t>Warum sinnvoll:</a:t>
            </a:r>
            <a:endParaRPr sz="1000"/>
          </a:p>
          <a:p>
            <a:pPr indent="-292100" lvl="0" marL="457200" rtl="0" algn="l">
              <a:lnSpc>
                <a:spcPct val="115000"/>
              </a:lnSpc>
              <a:spcBef>
                <a:spcPts val="1300"/>
              </a:spcBef>
              <a:spcAft>
                <a:spcPts val="0"/>
              </a:spcAft>
              <a:buClr>
                <a:schemeClr val="dk1"/>
              </a:buClr>
              <a:buSzPts val="1000"/>
              <a:buChar char="●"/>
            </a:pPr>
            <a:r>
              <a:rPr lang="de-DE" sz="1000"/>
              <a:t>Menüs und Menüeinträge können einheitlich behandelt werden (execute/getTitle/isVisible).</a:t>
            </a:r>
            <a:endParaRPr sz="1000"/>
          </a:p>
          <a:p>
            <a:pPr indent="-292100" lvl="0" marL="457200" rtl="0" algn="l">
              <a:lnSpc>
                <a:spcPct val="115000"/>
              </a:lnSpc>
              <a:spcBef>
                <a:spcPts val="0"/>
              </a:spcBef>
              <a:spcAft>
                <a:spcPts val="0"/>
              </a:spcAft>
              <a:buClr>
                <a:schemeClr val="dk1"/>
              </a:buClr>
              <a:buSzPts val="1000"/>
              <a:buChar char="●"/>
            </a:pPr>
            <a:r>
              <a:rPr lang="de-DE" sz="1000"/>
              <a:t>Baumartige Menüstruktur passt genau zum Composite-Muster.</a:t>
            </a:r>
            <a:endParaRPr sz="1000"/>
          </a:p>
          <a:p>
            <a:pPr indent="-292100" lvl="0" marL="457200" rtl="0" algn="l">
              <a:lnSpc>
                <a:spcPct val="115000"/>
              </a:lnSpc>
              <a:spcBef>
                <a:spcPts val="0"/>
              </a:spcBef>
              <a:spcAft>
                <a:spcPts val="0"/>
              </a:spcAft>
              <a:buClr>
                <a:schemeClr val="dk1"/>
              </a:buClr>
              <a:buSzPts val="1000"/>
              <a:buChar char="●"/>
            </a:pPr>
            <a:r>
              <a:rPr lang="de-DE" sz="1000"/>
              <a:t>Neue Menüeinträge oder Untermenüs lassen sich ohne Umbau der Kernlogik hinzufügen.</a:t>
            </a:r>
            <a:endParaRPr sz="1000"/>
          </a:p>
        </p:txBody>
      </p:sp>
      <p:sp>
        <p:nvSpPr>
          <p:cNvPr id="564" name="Google Shape;564;g3971f4c7808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971f4c7808_0_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000"/>
          </a:p>
        </p:txBody>
      </p:sp>
      <p:sp>
        <p:nvSpPr>
          <p:cNvPr id="573" name="Google Shape;573;g3971f4c7808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p:cSld name="Titelfolie">
    <p:spTree>
      <p:nvGrpSpPr>
        <p:cNvPr id="16" name="Shape 16"/>
        <p:cNvGrpSpPr/>
        <p:nvPr/>
      </p:nvGrpSpPr>
      <p:grpSpPr>
        <a:xfrm>
          <a:off x="0" y="0"/>
          <a:ext cx="0" cy="0"/>
          <a:chOff x="0" y="0"/>
          <a:chExt cx="0" cy="0"/>
        </a:xfrm>
      </p:grpSpPr>
      <p:sp>
        <p:nvSpPr>
          <p:cNvPr id="17" name="Google Shape;17;p6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21" name="Shape 21"/>
        <p:cNvGrpSpPr/>
        <p:nvPr/>
      </p:nvGrpSpPr>
      <p:grpSpPr>
        <a:xfrm>
          <a:off x="0" y="0"/>
          <a:ext cx="0" cy="0"/>
          <a:chOff x="0" y="0"/>
          <a:chExt cx="0" cy="0"/>
        </a:xfrm>
      </p:grpSpPr>
      <p:sp>
        <p:nvSpPr>
          <p:cNvPr id="22" name="Google Shape;22;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27" name="Shape 27"/>
        <p:cNvGrpSpPr/>
        <p:nvPr/>
      </p:nvGrpSpPr>
      <p:grpSpPr>
        <a:xfrm>
          <a:off x="0" y="0"/>
          <a:ext cx="0" cy="0"/>
          <a:chOff x="0" y="0"/>
          <a:chExt cx="0" cy="0"/>
        </a:xfrm>
      </p:grpSpPr>
      <p:sp>
        <p:nvSpPr>
          <p:cNvPr id="28" name="Google Shape;28;p6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33" name="Shape 33"/>
        <p:cNvGrpSpPr/>
        <p:nvPr/>
      </p:nvGrpSpPr>
      <p:grpSpPr>
        <a:xfrm>
          <a:off x="0" y="0"/>
          <a:ext cx="0" cy="0"/>
          <a:chOff x="0" y="0"/>
          <a:chExt cx="0" cy="0"/>
        </a:xfrm>
      </p:grpSpPr>
      <p:sp>
        <p:nvSpPr>
          <p:cNvPr id="34" name="Google Shape;34;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40" name="Shape 40"/>
        <p:cNvGrpSpPr/>
        <p:nvPr/>
      </p:nvGrpSpPr>
      <p:grpSpPr>
        <a:xfrm>
          <a:off x="0" y="0"/>
          <a:ext cx="0" cy="0"/>
          <a:chOff x="0" y="0"/>
          <a:chExt cx="0" cy="0"/>
        </a:xfrm>
      </p:grpSpPr>
      <p:sp>
        <p:nvSpPr>
          <p:cNvPr id="41" name="Google Shape;41;p7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49" name="Shape 49"/>
        <p:cNvGrpSpPr/>
        <p:nvPr/>
      </p:nvGrpSpPr>
      <p:grpSpPr>
        <a:xfrm>
          <a:off x="0" y="0"/>
          <a:ext cx="0" cy="0"/>
          <a:chOff x="0" y="0"/>
          <a:chExt cx="0" cy="0"/>
        </a:xfrm>
      </p:grpSpPr>
      <p:sp>
        <p:nvSpPr>
          <p:cNvPr id="50" name="Google Shape;50;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54" name="Shape 54"/>
        <p:cNvGrpSpPr/>
        <p:nvPr/>
      </p:nvGrpSpPr>
      <p:grpSpPr>
        <a:xfrm>
          <a:off x="0" y="0"/>
          <a:ext cx="0" cy="0"/>
          <a:chOff x="0" y="0"/>
          <a:chExt cx="0" cy="0"/>
        </a:xfrm>
      </p:grpSpPr>
      <p:sp>
        <p:nvSpPr>
          <p:cNvPr id="55" name="Google Shape;55;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58" name="Shape 58"/>
        <p:cNvGrpSpPr/>
        <p:nvPr/>
      </p:nvGrpSpPr>
      <p:grpSpPr>
        <a:xfrm>
          <a:off x="0" y="0"/>
          <a:ext cx="0" cy="0"/>
          <a:chOff x="0" y="0"/>
          <a:chExt cx="0" cy="0"/>
        </a:xfrm>
      </p:grpSpPr>
      <p:sp>
        <p:nvSpPr>
          <p:cNvPr id="59" name="Google Shape;59;p7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7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7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type="picTx">
  <p:cSld name="PICTURE_WITH_CAPTION_TEXT">
    <p:spTree>
      <p:nvGrpSpPr>
        <p:cNvPr id="65" name="Shape 65"/>
        <p:cNvGrpSpPr/>
        <p:nvPr/>
      </p:nvGrpSpPr>
      <p:grpSpPr>
        <a:xfrm>
          <a:off x="0" y="0"/>
          <a:ext cx="0" cy="0"/>
          <a:chOff x="0" y="0"/>
          <a:chExt cx="0" cy="0"/>
        </a:xfrm>
      </p:grpSpPr>
      <p:sp>
        <p:nvSpPr>
          <p:cNvPr id="66" name="Google Shape;66;p7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74"/>
          <p:cNvSpPr/>
          <p:nvPr>
            <p:ph idx="2" type="pic"/>
          </p:nvPr>
        </p:nvSpPr>
        <p:spPr>
          <a:xfrm>
            <a:off x="5183188" y="987425"/>
            <a:ext cx="6172200" cy="4873625"/>
          </a:xfrm>
          <a:prstGeom prst="rect">
            <a:avLst/>
          </a:prstGeom>
          <a:noFill/>
          <a:ln>
            <a:noFill/>
          </a:ln>
        </p:spPr>
      </p:sp>
      <p:sp>
        <p:nvSpPr>
          <p:cNvPr id="68" name="Google Shape;68;p7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vertikaler Text" type="vertTx">
  <p:cSld name="VERTICAL_TEXT">
    <p:spTree>
      <p:nvGrpSpPr>
        <p:cNvPr id="72" name="Shape 72"/>
        <p:cNvGrpSpPr/>
        <p:nvPr/>
      </p:nvGrpSpPr>
      <p:grpSpPr>
        <a:xfrm>
          <a:off x="0" y="0"/>
          <a:ext cx="0" cy="0"/>
          <a:chOff x="0" y="0"/>
          <a:chExt cx="0" cy="0"/>
        </a:xfrm>
      </p:grpSpPr>
      <p:sp>
        <p:nvSpPr>
          <p:cNvPr id="73" name="Google Shape;73;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kaler Titel und Text" type="vertTitleAndTx">
  <p:cSld name="VERTICAL_TITLE_AND_VERTICAL_TEXT">
    <p:spTree>
      <p:nvGrpSpPr>
        <p:cNvPr id="78" name="Shape 78"/>
        <p:cNvGrpSpPr/>
        <p:nvPr/>
      </p:nvGrpSpPr>
      <p:grpSpPr>
        <a:xfrm>
          <a:off x="0" y="0"/>
          <a:ext cx="0" cy="0"/>
          <a:chOff x="0" y="0"/>
          <a:chExt cx="0" cy="0"/>
        </a:xfrm>
      </p:grpSpPr>
      <p:sp>
        <p:nvSpPr>
          <p:cNvPr id="79" name="Google Shape;79;p7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7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pic>
        <p:nvPicPr>
          <p:cNvPr descr="The image depicts the logo of Dual HBW (Duale Hochschule Baden-Wￃﾼrttemberg), featuring a stylized red and black abstract design.&#10;&#10;KI-generierte Inhalte können fehlerhaft sein." id="15" name="Google Shape;15;p65"/>
          <p:cNvPicPr preferRelativeResize="0"/>
          <p:nvPr/>
        </p:nvPicPr>
        <p:blipFill rotWithShape="1">
          <a:blip r:embed="rId1">
            <a:alphaModFix/>
          </a:blip>
          <a:srcRect b="0" l="0" r="0" t="0"/>
          <a:stretch/>
        </p:blipFill>
        <p:spPr>
          <a:xfrm>
            <a:off x="129728" y="6295952"/>
            <a:ext cx="1162575" cy="48592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1.png"/><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6.png"/><Relationship Id="rId4" Type="http://schemas.openxmlformats.org/officeDocument/2006/relationships/image" Target="../media/image40.png"/><Relationship Id="rId5"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5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9.png"/><Relationship Id="rId4" Type="http://schemas.openxmlformats.org/officeDocument/2006/relationships/image" Target="../media/image5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56.png"/><Relationship Id="rId4"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3.png"/><Relationship Id="rId4" Type="http://schemas.openxmlformats.org/officeDocument/2006/relationships/image" Target="../media/image6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 name="Shape 87"/>
        <p:cNvGrpSpPr/>
        <p:nvPr/>
      </p:nvGrpSpPr>
      <p:grpSpPr>
        <a:xfrm>
          <a:off x="0" y="0"/>
          <a:ext cx="0" cy="0"/>
          <a:chOff x="0" y="0"/>
          <a:chExt cx="0" cy="0"/>
        </a:xfrm>
      </p:grpSpPr>
      <p:sp>
        <p:nvSpPr>
          <p:cNvPr id="88" name="Google Shape;88;p1"/>
          <p:cNvSpPr txBox="1"/>
          <p:nvPr>
            <p:ph idx="4294967295" type="ctrTitle"/>
          </p:nvPr>
        </p:nvSpPr>
        <p:spPr>
          <a:xfrm>
            <a:off x="1524000" y="1122363"/>
            <a:ext cx="9144000" cy="238760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400"/>
              <a:buFont typeface="Arial"/>
              <a:buNone/>
            </a:pPr>
            <a:r>
              <a:rPr b="0" i="0" lang="de-DE" sz="4400" u="none" cap="none" strike="noStrike">
                <a:solidFill>
                  <a:schemeClr val="dk1"/>
                </a:solidFill>
                <a:latin typeface="Arial"/>
                <a:ea typeface="Arial"/>
                <a:cs typeface="Arial"/>
                <a:sym typeface="Arial"/>
              </a:rPr>
              <a:t>PC-Part-Picker</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de-DE"/>
              <a:t>Tuluhan Engin, Fabio Schehr, Henri Weber</a:t>
            </a:r>
            <a:br>
              <a:rPr lang="de-DE"/>
            </a:br>
            <a:br>
              <a:rPr lang="de-DE"/>
            </a:br>
            <a:r>
              <a:rPr lang="de-DE"/>
              <a:t>Datum: 04.05.26</a:t>
            </a:r>
            <a:endParaRPr/>
          </a:p>
        </p:txBody>
      </p:sp>
      <p:pic>
        <p:nvPicPr>
          <p:cNvPr descr="The image depicts the logo of Dual HBW (Duale Hochschule Baden-Wￃﾼrttemberg), featuring a stylized red and black abstract design.&#10;&#10;KI-generierte Inhalte können fehlerhaft sein." id="90" name="Google Shape;90;p1"/>
          <p:cNvPicPr preferRelativeResize="0"/>
          <p:nvPr/>
        </p:nvPicPr>
        <p:blipFill rotWithShape="1">
          <a:blip r:embed="rId3">
            <a:alphaModFix/>
          </a:blip>
          <a:srcRect b="0" l="0" r="0" t="0"/>
          <a:stretch/>
        </p:blipFill>
        <p:spPr>
          <a:xfrm>
            <a:off x="260172" y="238919"/>
            <a:ext cx="2527656" cy="10564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1. Einführung - Funktion der Applikation</a:t>
            </a:r>
            <a:endParaRPr/>
          </a:p>
        </p:txBody>
      </p:sp>
      <p:sp>
        <p:nvSpPr>
          <p:cNvPr id="96" name="Google Shape;96;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Konfigurieren von PC’s</a:t>
            </a:r>
            <a:endParaRPr/>
          </a:p>
          <a:p>
            <a:pPr indent="-228600" lvl="0" marL="228600" rtl="0" algn="l">
              <a:lnSpc>
                <a:spcPct val="90000"/>
              </a:lnSpc>
              <a:spcBef>
                <a:spcPts val="1000"/>
              </a:spcBef>
              <a:spcAft>
                <a:spcPts val="0"/>
              </a:spcAft>
              <a:buClr>
                <a:schemeClr val="dk1"/>
              </a:buClr>
              <a:buSzPts val="2800"/>
              <a:buChar char="•"/>
            </a:pPr>
            <a:r>
              <a:rPr lang="de-DE"/>
              <a:t>Kompatibilitätsprüfung der Komponenten</a:t>
            </a:r>
            <a:endParaRPr/>
          </a:p>
          <a:p>
            <a:pPr indent="-228600" lvl="0" marL="228600" rtl="0" algn="l">
              <a:lnSpc>
                <a:spcPct val="90000"/>
              </a:lnSpc>
              <a:spcBef>
                <a:spcPts val="1000"/>
              </a:spcBef>
              <a:spcAft>
                <a:spcPts val="0"/>
              </a:spcAft>
              <a:buClr>
                <a:schemeClr val="dk1"/>
              </a:buClr>
              <a:buSzPts val="2800"/>
              <a:buChar char="•"/>
            </a:pPr>
            <a:r>
              <a:rPr lang="de-DE"/>
              <a:t>Speichern von Entwürfen und fertigen PC‘s</a:t>
            </a:r>
            <a:endParaRPr/>
          </a:p>
          <a:p>
            <a:pPr indent="-228600" lvl="0" marL="228600" rtl="0" algn="l">
              <a:lnSpc>
                <a:spcPct val="90000"/>
              </a:lnSpc>
              <a:spcBef>
                <a:spcPts val="1000"/>
              </a:spcBef>
              <a:spcAft>
                <a:spcPts val="0"/>
              </a:spcAft>
              <a:buClr>
                <a:schemeClr val="dk1"/>
              </a:buClr>
              <a:buSzPts val="2800"/>
              <a:buChar char="•"/>
            </a:pPr>
            <a:r>
              <a:rPr lang="de-DE"/>
              <a:t>Benchmarks durchführen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1.1 Start der Applikation</a:t>
            </a:r>
            <a:endParaRPr/>
          </a:p>
        </p:txBody>
      </p:sp>
      <p:pic>
        <p:nvPicPr>
          <p:cNvPr descr="The text appears to be a command line input for running a Java application, specifying the main class for execution." id="103" name="Google Shape;103;p3"/>
          <p:cNvPicPr preferRelativeResize="0"/>
          <p:nvPr>
            <p:ph idx="1" type="body"/>
          </p:nvPr>
        </p:nvPicPr>
        <p:blipFill rotWithShape="1">
          <a:blip r:embed="rId3">
            <a:alphaModFix/>
          </a:blip>
          <a:srcRect b="0" l="0" r="0" t="0"/>
          <a:stretch/>
        </p:blipFill>
        <p:spPr>
          <a:xfrm>
            <a:off x="838200" y="4434490"/>
            <a:ext cx="6035396" cy="1033621"/>
          </a:xfrm>
          <a:prstGeom prst="rect">
            <a:avLst/>
          </a:prstGeom>
          <a:noFill/>
          <a:ln>
            <a:noFill/>
          </a:ln>
        </p:spPr>
      </p:pic>
      <p:sp>
        <p:nvSpPr>
          <p:cNvPr id="104" name="Google Shape;104;p3"/>
          <p:cNvSpPr txBox="1"/>
          <p:nvPr/>
        </p:nvSpPr>
        <p:spPr>
          <a:xfrm>
            <a:off x="838200" y="1760400"/>
            <a:ext cx="9105300" cy="35403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800"/>
              <a:buFont typeface="Arial"/>
              <a:buChar char="•"/>
            </a:pPr>
            <a:r>
              <a:rPr b="0" i="0" lang="de-DE" sz="2800" u="none" cap="none" strike="noStrike">
                <a:solidFill>
                  <a:schemeClr val="dk1"/>
                </a:solidFill>
                <a:latin typeface="Arial"/>
                <a:ea typeface="Arial"/>
                <a:cs typeface="Arial"/>
                <a:sym typeface="Arial"/>
              </a:rPr>
              <a:t>Voraussetzungen: </a:t>
            </a:r>
            <a:endParaRPr/>
          </a:p>
          <a:p>
            <a:pPr indent="-285750" lvl="1" marL="742950" marR="0" rtl="0" algn="l">
              <a:spcBef>
                <a:spcPts val="0"/>
              </a:spcBef>
              <a:spcAft>
                <a:spcPts val="0"/>
              </a:spcAft>
              <a:buClr>
                <a:schemeClr val="dk1"/>
              </a:buClr>
              <a:buSzPts val="2800"/>
              <a:buFont typeface="Arial"/>
              <a:buChar char="•"/>
            </a:pPr>
            <a:r>
              <a:rPr b="0" i="0" lang="de-DE" sz="2800" u="none" cap="none" strike="noStrike">
                <a:solidFill>
                  <a:schemeClr val="dk1"/>
                </a:solidFill>
                <a:latin typeface="Arial"/>
                <a:ea typeface="Arial"/>
                <a:cs typeface="Arial"/>
                <a:sym typeface="Arial"/>
              </a:rPr>
              <a:t>Java 17 oder höher</a:t>
            </a:r>
            <a:endParaRPr/>
          </a:p>
          <a:p>
            <a:pPr indent="-285750" lvl="1" marL="742950" marR="0" rtl="0" algn="l">
              <a:spcBef>
                <a:spcPts val="0"/>
              </a:spcBef>
              <a:spcAft>
                <a:spcPts val="0"/>
              </a:spcAft>
              <a:buClr>
                <a:schemeClr val="dk1"/>
              </a:buClr>
              <a:buSzPts val="2800"/>
              <a:buFont typeface="Arial"/>
              <a:buChar char="•"/>
            </a:pPr>
            <a:r>
              <a:rPr b="0" i="0" lang="de-DE" sz="2800" u="none" cap="none" strike="noStrike">
                <a:solidFill>
                  <a:schemeClr val="dk1"/>
                </a:solidFill>
                <a:latin typeface="Arial"/>
                <a:ea typeface="Arial"/>
                <a:cs typeface="Arial"/>
                <a:sym typeface="Arial"/>
              </a:rPr>
              <a:t>Maven installiert</a:t>
            </a:r>
            <a:endParaRPr/>
          </a:p>
          <a:p>
            <a:pPr indent="-107950" lvl="1" marL="742950" marR="0" rtl="0" algn="l">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2800"/>
              <a:buFont typeface="Arial"/>
              <a:buChar char="•"/>
            </a:pPr>
            <a:r>
              <a:rPr b="0" i="0" lang="de-DE" sz="2800" u="none" cap="none" strike="noStrike">
                <a:solidFill>
                  <a:schemeClr val="dk1"/>
                </a:solidFill>
                <a:latin typeface="Arial"/>
                <a:ea typeface="Arial"/>
                <a:cs typeface="Arial"/>
                <a:sym typeface="Arial"/>
              </a:rPr>
              <a:t>Terminal im „</a:t>
            </a:r>
            <a:r>
              <a:rPr lang="de-DE" sz="2800">
                <a:solidFill>
                  <a:schemeClr val="dk1"/>
                </a:solidFill>
              </a:rPr>
              <a:t>tinf23b3-pcpartpicker\</a:t>
            </a:r>
            <a:r>
              <a:rPr b="0" i="0" lang="de-DE" sz="2800" u="none" cap="none" strike="noStrike">
                <a:solidFill>
                  <a:schemeClr val="dk1"/>
                </a:solidFill>
                <a:latin typeface="Arial"/>
                <a:ea typeface="Arial"/>
                <a:cs typeface="Arial"/>
                <a:sym typeface="Arial"/>
              </a:rPr>
              <a:t>“ Ordner öffnen</a:t>
            </a:r>
            <a:endParaRPr/>
          </a:p>
          <a:p>
            <a:pPr indent="-285750" lvl="0" marL="285750" marR="0" rtl="0" algn="l">
              <a:spcBef>
                <a:spcPts val="0"/>
              </a:spcBef>
              <a:spcAft>
                <a:spcPts val="0"/>
              </a:spcAft>
              <a:buClr>
                <a:schemeClr val="dk1"/>
              </a:buClr>
              <a:buSzPts val="2800"/>
              <a:buFont typeface="Arial"/>
              <a:buChar char="•"/>
            </a:pPr>
            <a:r>
              <a:rPr b="0" i="0" lang="de-DE" sz="2800" u="none" cap="none" strike="noStrike">
                <a:solidFill>
                  <a:schemeClr val="dk1"/>
                </a:solidFill>
                <a:latin typeface="Arial"/>
                <a:ea typeface="Arial"/>
                <a:cs typeface="Arial"/>
                <a:sym typeface="Arial"/>
              </a:rPr>
              <a:t>Startbefehl (Maven):</a:t>
            </a:r>
            <a:endParaRPr/>
          </a:p>
          <a:p>
            <a:pPr indent="-107950" lvl="0" marL="285750" marR="0" rtl="0" algn="l">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a:p>
            <a:pPr indent="-107950" lvl="0" marL="285750" marR="0" rtl="0" algn="l">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1.2 Technischer Überblick</a:t>
            </a:r>
            <a:endParaRPr/>
          </a:p>
        </p:txBody>
      </p:sp>
      <p:sp>
        <p:nvSpPr>
          <p:cNvPr id="110" name="Google Shape;11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Programmiersprache: Java</a:t>
            </a:r>
            <a:endParaRPr/>
          </a:p>
          <a:p>
            <a:pPr indent="-228600" lvl="0" marL="228600" rtl="0" algn="l">
              <a:lnSpc>
                <a:spcPct val="90000"/>
              </a:lnSpc>
              <a:spcBef>
                <a:spcPts val="1000"/>
              </a:spcBef>
              <a:spcAft>
                <a:spcPts val="0"/>
              </a:spcAft>
              <a:buClr>
                <a:schemeClr val="dk1"/>
              </a:buClr>
              <a:buSzPts val="2800"/>
              <a:buChar char="•"/>
            </a:pPr>
            <a:r>
              <a:rPr lang="de-DE"/>
              <a:t>Build-Tool: Maven </a:t>
            </a:r>
            <a:endParaRPr/>
          </a:p>
          <a:p>
            <a:pPr indent="-228600" lvl="0" marL="228600" rtl="0" algn="l">
              <a:lnSpc>
                <a:spcPct val="90000"/>
              </a:lnSpc>
              <a:spcBef>
                <a:spcPts val="1000"/>
              </a:spcBef>
              <a:spcAft>
                <a:spcPts val="0"/>
              </a:spcAft>
              <a:buClr>
                <a:schemeClr val="dk1"/>
              </a:buClr>
              <a:buSzPts val="2800"/>
              <a:buChar char="•"/>
            </a:pPr>
            <a:r>
              <a:rPr lang="de-DE"/>
              <a:t>Datenbankmanagement: SQLite</a:t>
            </a:r>
            <a:endParaRPr/>
          </a:p>
          <a:p>
            <a:pPr indent="-228600" lvl="0" marL="228600" rtl="0" algn="l">
              <a:lnSpc>
                <a:spcPct val="90000"/>
              </a:lnSpc>
              <a:spcBef>
                <a:spcPts val="1000"/>
              </a:spcBef>
              <a:spcAft>
                <a:spcPts val="0"/>
              </a:spcAft>
              <a:buClr>
                <a:schemeClr val="dk1"/>
              </a:buClr>
              <a:buSzPts val="2800"/>
              <a:buChar char="•"/>
            </a:pPr>
            <a:r>
              <a:rPr lang="de-DE"/>
              <a:t>Einlesen der Seed-Daten (JSONL): Gson</a:t>
            </a:r>
            <a:endParaRPr/>
          </a:p>
          <a:p>
            <a:pPr indent="-228600" lvl="0" marL="228600" rtl="0" algn="l">
              <a:lnSpc>
                <a:spcPct val="90000"/>
              </a:lnSpc>
              <a:spcBef>
                <a:spcPts val="1000"/>
              </a:spcBef>
              <a:spcAft>
                <a:spcPts val="0"/>
              </a:spcAft>
              <a:buClr>
                <a:schemeClr val="dk1"/>
              </a:buClr>
              <a:buSzPts val="2800"/>
              <a:buChar char="•"/>
            </a:pPr>
            <a:r>
              <a:rPr lang="de-DE"/>
              <a:t>Testen: Junit 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2. Softwarearchitektur – Clean Architecture</a:t>
            </a:r>
            <a:endParaRPr/>
          </a:p>
        </p:txBody>
      </p:sp>
      <p:pic>
        <p:nvPicPr>
          <p:cNvPr id="117" name="Google Shape;117;p5"/>
          <p:cNvPicPr preferRelativeResize="0"/>
          <p:nvPr/>
        </p:nvPicPr>
        <p:blipFill rotWithShape="1">
          <a:blip r:embed="rId3">
            <a:alphaModFix/>
          </a:blip>
          <a:srcRect b="0" l="0" r="0" t="0"/>
          <a:stretch/>
        </p:blipFill>
        <p:spPr>
          <a:xfrm>
            <a:off x="2862263" y="2154749"/>
            <a:ext cx="6738937" cy="36930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2.1 Domain Code</a:t>
            </a:r>
            <a:endParaRPr/>
          </a:p>
        </p:txBody>
      </p:sp>
      <p:sp>
        <p:nvSpPr>
          <p:cNvPr id="124" name="Google Shape;124;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Repräsentiert reines Fachwissen ohne Abhängigkeiten</a:t>
            </a:r>
            <a:endParaRPr/>
          </a:p>
        </p:txBody>
      </p:sp>
      <p:pic>
        <p:nvPicPr>
          <p:cNvPr descr="A diagram illustrating a Java class named 'CPU' with attributes like ID, name, price, manufacturer, socket, speed, optional boost clock, integrated graphics, and power consumption.&#10;&#10;KI-generierte Inhalte können fehlerhaft sein." id="125" name="Google Shape;125;p6"/>
          <p:cNvPicPr preferRelativeResize="0"/>
          <p:nvPr/>
        </p:nvPicPr>
        <p:blipFill rotWithShape="1">
          <a:blip r:embed="rId3">
            <a:alphaModFix/>
          </a:blip>
          <a:srcRect b="0" l="0" r="0" t="0"/>
          <a:stretch/>
        </p:blipFill>
        <p:spPr>
          <a:xfrm>
            <a:off x="3017015" y="2467760"/>
            <a:ext cx="6157970" cy="3844140"/>
          </a:xfrm>
          <a:prstGeom prst="rect">
            <a:avLst/>
          </a:prstGeom>
          <a:noFill/>
          <a:ln>
            <a:noFill/>
          </a:ln>
        </p:spPr>
      </p:pic>
      <p:sp>
        <p:nvSpPr>
          <p:cNvPr id="126" name="Google Shape;126;p6"/>
          <p:cNvSpPr txBox="1"/>
          <p:nvPr/>
        </p:nvSpPr>
        <p:spPr>
          <a:xfrm>
            <a:off x="1243173" y="2467760"/>
            <a:ext cx="255826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e-DE" sz="2800" u="none" cap="none" strike="noStrike">
                <a:solidFill>
                  <a:schemeClr val="dk1"/>
                </a:solidFill>
                <a:latin typeface="Arial"/>
                <a:ea typeface="Arial"/>
                <a:cs typeface="Arial"/>
                <a:sym typeface="Arial"/>
              </a:rPr>
              <a:t>CPU.java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2.2 Dependency Rule - Positiv</a:t>
            </a:r>
            <a:endParaRPr/>
          </a:p>
        </p:txBody>
      </p:sp>
      <p:sp>
        <p:nvSpPr>
          <p:cNvPr id="133" name="Google Shape;133;p7"/>
          <p:cNvSpPr txBox="1"/>
          <p:nvPr/>
        </p:nvSpPr>
        <p:spPr>
          <a:xfrm>
            <a:off x="838200" y="2060020"/>
            <a:ext cx="318654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MenuFactory.java</a:t>
            </a:r>
            <a:endParaRPr/>
          </a:p>
        </p:txBody>
      </p:sp>
      <p:pic>
        <p:nvPicPr>
          <p:cNvPr descr="The image displays a list of Java import statements, each line starting with a package declaration, followed by various classes and commands related to the `de. ase.pcpartpicker. adapters.cli` package.&#10;&#10;KI-generierte Inhalte können fehlerhaft sein." id="134" name="Google Shape;134;p7"/>
          <p:cNvPicPr preferRelativeResize="0"/>
          <p:nvPr/>
        </p:nvPicPr>
        <p:blipFill rotWithShape="1">
          <a:blip r:embed="rId3">
            <a:alphaModFix/>
          </a:blip>
          <a:srcRect b="0" l="0" r="0" t="0"/>
          <a:stretch/>
        </p:blipFill>
        <p:spPr>
          <a:xfrm>
            <a:off x="3885046" y="2060020"/>
            <a:ext cx="3861954" cy="453609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2.2 Dependency Rule – Positiv - UML </a:t>
            </a:r>
            <a:endParaRPr/>
          </a:p>
        </p:txBody>
      </p:sp>
      <p:pic>
        <p:nvPicPr>
          <p:cNvPr id="140" name="Google Shape;140;p8"/>
          <p:cNvPicPr preferRelativeResize="0"/>
          <p:nvPr/>
        </p:nvPicPr>
        <p:blipFill>
          <a:blip r:embed="rId3">
            <a:alphaModFix/>
          </a:blip>
          <a:stretch>
            <a:fillRect/>
          </a:stretch>
        </p:blipFill>
        <p:spPr>
          <a:xfrm>
            <a:off x="1277800" y="1758754"/>
            <a:ext cx="10010449" cy="4079725"/>
          </a:xfrm>
          <a:prstGeom prst="rect">
            <a:avLst/>
          </a:prstGeom>
          <a:noFill/>
          <a:ln>
            <a:noFill/>
          </a:ln>
        </p:spPr>
      </p:pic>
      <p:sp>
        <p:nvSpPr>
          <p:cNvPr id="141" name="Google Shape;141;p8"/>
          <p:cNvSpPr/>
          <p:nvPr/>
        </p:nvSpPr>
        <p:spPr>
          <a:xfrm>
            <a:off x="4107525" y="3246225"/>
            <a:ext cx="1811700" cy="10854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2.2 Dependency Rule - Negativ</a:t>
            </a:r>
            <a:endParaRPr/>
          </a:p>
        </p:txBody>
      </p:sp>
      <p:sp>
        <p:nvSpPr>
          <p:cNvPr id="148" name="Google Shape;148;p9"/>
          <p:cNvSpPr txBox="1"/>
          <p:nvPr/>
        </p:nvSpPr>
        <p:spPr>
          <a:xfrm>
            <a:off x="1306786" y="1429078"/>
            <a:ext cx="386211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Computer.Builder.java</a:t>
            </a:r>
            <a:endParaRPr/>
          </a:p>
        </p:txBody>
      </p:sp>
      <p:pic>
        <p:nvPicPr>
          <p:cNvPr id="149" name="Google Shape;149;p9" title="computer_new_030526.png"/>
          <p:cNvPicPr preferRelativeResize="0"/>
          <p:nvPr/>
        </p:nvPicPr>
        <p:blipFill>
          <a:blip r:embed="rId3">
            <a:alphaModFix/>
          </a:blip>
          <a:stretch>
            <a:fillRect/>
          </a:stretch>
        </p:blipFill>
        <p:spPr>
          <a:xfrm>
            <a:off x="1306775" y="2001200"/>
            <a:ext cx="3419400" cy="4389596"/>
          </a:xfrm>
          <a:prstGeom prst="rect">
            <a:avLst/>
          </a:prstGeom>
          <a:noFill/>
          <a:ln>
            <a:noFill/>
          </a:ln>
        </p:spPr>
      </p:pic>
      <p:pic>
        <p:nvPicPr>
          <p:cNvPr id="150" name="Google Shape;150;p9" title="color_constants.png"/>
          <p:cNvPicPr preferRelativeResize="0"/>
          <p:nvPr/>
        </p:nvPicPr>
        <p:blipFill>
          <a:blip r:embed="rId4">
            <a:alphaModFix/>
          </a:blip>
          <a:stretch>
            <a:fillRect/>
          </a:stretch>
        </p:blipFill>
        <p:spPr>
          <a:xfrm>
            <a:off x="5168900" y="2001200"/>
            <a:ext cx="6425948" cy="4389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2.2 Dependency Rule- Negativ- UML </a:t>
            </a:r>
            <a:endParaRPr/>
          </a:p>
        </p:txBody>
      </p:sp>
      <p:pic>
        <p:nvPicPr>
          <p:cNvPr id="157" name="Google Shape;157;p10"/>
          <p:cNvPicPr preferRelativeResize="0"/>
          <p:nvPr>
            <p:ph idx="1" type="body"/>
          </p:nvPr>
        </p:nvPicPr>
        <p:blipFill rotWithShape="1">
          <a:blip r:embed="rId3">
            <a:alphaModFix/>
          </a:blip>
          <a:srcRect b="0" l="0" r="0" t="0"/>
          <a:stretch/>
        </p:blipFill>
        <p:spPr>
          <a:xfrm>
            <a:off x="2128390" y="1447119"/>
            <a:ext cx="6069460" cy="472817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 SOLID Prinzipien - SRP - Positiv</a:t>
            </a:r>
            <a:endParaRPr/>
          </a:p>
        </p:txBody>
      </p:sp>
      <p:pic>
        <p:nvPicPr>
          <p:cNvPr descr="A Java class named InputReader is provided, which reads integer and string inputs from the console within specified ranges and handles invalid inputs.&#10;&#10;KI-generierte Inhalte können fehlerhaft sein." id="164" name="Google Shape;164;p11"/>
          <p:cNvPicPr preferRelativeResize="0"/>
          <p:nvPr>
            <p:ph idx="1" type="body"/>
          </p:nvPr>
        </p:nvPicPr>
        <p:blipFill rotWithShape="1">
          <a:blip r:embed="rId3">
            <a:alphaModFix/>
          </a:blip>
          <a:srcRect b="0" l="0" r="0" t="0"/>
          <a:stretch/>
        </p:blipFill>
        <p:spPr>
          <a:xfrm>
            <a:off x="3844121" y="1690688"/>
            <a:ext cx="4503757" cy="4351338"/>
          </a:xfrm>
          <a:prstGeom prst="rect">
            <a:avLst/>
          </a:prstGeom>
          <a:noFill/>
          <a:ln>
            <a:noFill/>
          </a:ln>
        </p:spPr>
      </p:pic>
      <p:sp>
        <p:nvSpPr>
          <p:cNvPr id="165" name="Google Shape;165;p11"/>
          <p:cNvSpPr txBox="1"/>
          <p:nvPr/>
        </p:nvSpPr>
        <p:spPr>
          <a:xfrm>
            <a:off x="838199" y="1690688"/>
            <a:ext cx="34544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InputReader.java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 SRP – Positiv – UML </a:t>
            </a:r>
            <a:endParaRPr/>
          </a:p>
        </p:txBody>
      </p:sp>
      <p:pic>
        <p:nvPicPr>
          <p:cNvPr id="172" name="Google Shape;172;p12"/>
          <p:cNvPicPr preferRelativeResize="0"/>
          <p:nvPr/>
        </p:nvPicPr>
        <p:blipFill rotWithShape="1">
          <a:blip r:embed="rId3">
            <a:alphaModFix/>
          </a:blip>
          <a:srcRect b="0" l="0" r="0" t="0"/>
          <a:stretch/>
        </p:blipFill>
        <p:spPr>
          <a:xfrm>
            <a:off x="2724150" y="2318214"/>
            <a:ext cx="6743700" cy="3105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 SRP – Negativ </a:t>
            </a:r>
            <a:endParaRPr/>
          </a:p>
        </p:txBody>
      </p:sp>
      <p:pic>
        <p:nvPicPr>
          <p:cNvPr descr="The image depicts a segment of Java code, specifically a class definition for a SQLite database initializer with comments and annotations.&#10;&#10;KI-generierte Inhalte können fehlerhaft sein." id="179" name="Google Shape;179;p13"/>
          <p:cNvPicPr preferRelativeResize="0"/>
          <p:nvPr>
            <p:ph idx="1" type="body"/>
          </p:nvPr>
        </p:nvPicPr>
        <p:blipFill rotWithShape="1">
          <a:blip r:embed="rId3">
            <a:alphaModFix/>
          </a:blip>
          <a:srcRect b="0" l="0" r="0" t="0"/>
          <a:stretch/>
        </p:blipFill>
        <p:spPr>
          <a:xfrm>
            <a:off x="2728003" y="1696245"/>
            <a:ext cx="3630917" cy="4351338"/>
          </a:xfrm>
          <a:prstGeom prst="rect">
            <a:avLst/>
          </a:prstGeom>
          <a:noFill/>
          <a:ln>
            <a:noFill/>
          </a:ln>
        </p:spPr>
      </p:pic>
      <p:pic>
        <p:nvPicPr>
          <p:cNvPr descr="A code snippet with method calls for setting up various computer hardware components such as CPUs, GPUs, RAM, mainboards, PSUs, cases, and different types of storage (HDD, SSD, M2SSD).&#10;&#10;KI-generierte Inhalte können fehlerhaft sein." id="180" name="Google Shape;180;p13"/>
          <p:cNvPicPr preferRelativeResize="0"/>
          <p:nvPr/>
        </p:nvPicPr>
        <p:blipFill rotWithShape="1">
          <a:blip r:embed="rId4">
            <a:alphaModFix/>
          </a:blip>
          <a:srcRect b="0" l="0" r="0" t="0"/>
          <a:stretch/>
        </p:blipFill>
        <p:spPr>
          <a:xfrm>
            <a:off x="6939623" y="1696245"/>
            <a:ext cx="3615005" cy="4351338"/>
          </a:xfrm>
          <a:prstGeom prst="rect">
            <a:avLst/>
          </a:prstGeom>
          <a:noFill/>
          <a:ln>
            <a:noFill/>
          </a:ln>
        </p:spPr>
      </p:pic>
      <p:sp>
        <p:nvSpPr>
          <p:cNvPr id="181" name="Google Shape;181;p13"/>
          <p:cNvSpPr txBox="1"/>
          <p:nvPr/>
        </p:nvSpPr>
        <p:spPr>
          <a:xfrm>
            <a:off x="130628" y="1690688"/>
            <a:ext cx="25817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chemeClr val="dk1"/>
                </a:solidFill>
                <a:latin typeface="Arial"/>
                <a:ea typeface="Arial"/>
                <a:cs typeface="Arial"/>
                <a:sym typeface="Arial"/>
              </a:rPr>
              <a:t>DatabaseInitializer.java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 SRP – Negativ - UML</a:t>
            </a:r>
            <a:endParaRPr/>
          </a:p>
        </p:txBody>
      </p:sp>
      <p:pic>
        <p:nvPicPr>
          <p:cNvPr id="187" name="Google Shape;187;p14"/>
          <p:cNvPicPr preferRelativeResize="0"/>
          <p:nvPr/>
        </p:nvPicPr>
        <p:blipFill rotWithShape="1">
          <a:blip r:embed="rId3">
            <a:alphaModFix/>
          </a:blip>
          <a:srcRect b="0" l="0" r="0" t="0"/>
          <a:stretch/>
        </p:blipFill>
        <p:spPr>
          <a:xfrm>
            <a:off x="2351994" y="2525485"/>
            <a:ext cx="5552742" cy="26561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 SRP – Negativ – UML - Lösung</a:t>
            </a:r>
            <a:endParaRPr/>
          </a:p>
        </p:txBody>
      </p:sp>
      <p:pic>
        <p:nvPicPr>
          <p:cNvPr id="193" name="Google Shape;193;p15"/>
          <p:cNvPicPr preferRelativeResize="0"/>
          <p:nvPr>
            <p:ph idx="1" type="body"/>
          </p:nvPr>
        </p:nvPicPr>
        <p:blipFill rotWithShape="1">
          <a:blip r:embed="rId3">
            <a:alphaModFix/>
          </a:blip>
          <a:srcRect b="0" l="0" r="0" t="0"/>
          <a:stretch/>
        </p:blipFill>
        <p:spPr>
          <a:xfrm>
            <a:off x="2090737" y="2791619"/>
            <a:ext cx="8010525" cy="2419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3.1 Open/Close Principle – Positiv </a:t>
            </a:r>
            <a:endParaRPr/>
          </a:p>
        </p:txBody>
      </p:sp>
      <p:pic>
        <p:nvPicPr>
          <p:cNvPr descr="The provided text is a snippet of Java code, specifically a class definition for a menu component in a command-line interface application.&#10;&#10;KI-generierte Inhalte können fehlerhaft sein." id="200" name="Google Shape;200;p16"/>
          <p:cNvPicPr preferRelativeResize="0"/>
          <p:nvPr>
            <p:ph idx="1" type="body"/>
          </p:nvPr>
        </p:nvPicPr>
        <p:blipFill rotWithShape="1">
          <a:blip r:embed="rId3">
            <a:alphaModFix/>
          </a:blip>
          <a:srcRect b="0" l="0" r="0" t="0"/>
          <a:stretch/>
        </p:blipFill>
        <p:spPr>
          <a:xfrm>
            <a:off x="2549114" y="1728788"/>
            <a:ext cx="3408469" cy="4351338"/>
          </a:xfrm>
          <a:prstGeom prst="rect">
            <a:avLst/>
          </a:prstGeom>
          <a:noFill/>
          <a:ln>
            <a:noFill/>
          </a:ln>
        </p:spPr>
      </p:pic>
      <p:pic>
        <p:nvPicPr>
          <p:cNvPr descr="The image depicts a segment of Java code, specifically a method for rendering content in a menu and managing its components.&#10;&#10;KI-generierte Inhalte können fehlerhaft sein." id="201" name="Google Shape;201;p16"/>
          <p:cNvPicPr preferRelativeResize="0"/>
          <p:nvPr/>
        </p:nvPicPr>
        <p:blipFill rotWithShape="1">
          <a:blip r:embed="rId4">
            <a:alphaModFix/>
          </a:blip>
          <a:srcRect b="0" l="0" r="0" t="0"/>
          <a:stretch/>
        </p:blipFill>
        <p:spPr>
          <a:xfrm>
            <a:off x="6753421" y="1728788"/>
            <a:ext cx="2622765" cy="4351338"/>
          </a:xfrm>
          <a:prstGeom prst="rect">
            <a:avLst/>
          </a:prstGeom>
          <a:noFill/>
          <a:ln>
            <a:noFill/>
          </a:ln>
        </p:spPr>
      </p:pic>
      <p:sp>
        <p:nvSpPr>
          <p:cNvPr id="202" name="Google Shape;202;p16"/>
          <p:cNvSpPr txBox="1"/>
          <p:nvPr/>
        </p:nvSpPr>
        <p:spPr>
          <a:xfrm>
            <a:off x="495300" y="1728788"/>
            <a:ext cx="187642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Menu.java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3.1 Open/Close Principle – Positiv - UML</a:t>
            </a:r>
            <a:endParaRPr/>
          </a:p>
        </p:txBody>
      </p:sp>
      <p:pic>
        <p:nvPicPr>
          <p:cNvPr id="208" name="Google Shape;208;p17"/>
          <p:cNvPicPr preferRelativeResize="0"/>
          <p:nvPr/>
        </p:nvPicPr>
        <p:blipFill>
          <a:blip r:embed="rId3">
            <a:alphaModFix/>
          </a:blip>
          <a:stretch>
            <a:fillRect/>
          </a:stretch>
        </p:blipFill>
        <p:spPr>
          <a:xfrm>
            <a:off x="1308100" y="1384300"/>
            <a:ext cx="8737601" cy="49494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3.1 Open/Close Principle – Negativ </a:t>
            </a:r>
            <a:endParaRPr/>
          </a:p>
        </p:txBody>
      </p:sp>
      <p:sp>
        <p:nvSpPr>
          <p:cNvPr id="215" name="Google Shape;215;p18"/>
          <p:cNvSpPr txBox="1"/>
          <p:nvPr/>
        </p:nvSpPr>
        <p:spPr>
          <a:xfrm>
            <a:off x="438150" y="1685922"/>
            <a:ext cx="250563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TableUtils.java</a:t>
            </a:r>
            <a:endParaRPr/>
          </a:p>
        </p:txBody>
      </p:sp>
      <p:pic>
        <p:nvPicPr>
          <p:cNvPr descr="The image appears to be a snippet of code, specifically Java code, from a software application, possibly related to computer hardware parts or specifications.&#10;&#10;KI-generierte Inhalte können fehlerhaft sein." id="216" name="Google Shape;216;p18"/>
          <p:cNvPicPr preferRelativeResize="0"/>
          <p:nvPr>
            <p:ph idx="1" type="body"/>
          </p:nvPr>
        </p:nvPicPr>
        <p:blipFill rotWithShape="1">
          <a:blip r:embed="rId3">
            <a:alphaModFix/>
          </a:blip>
          <a:srcRect b="0" l="0" r="0" t="0"/>
          <a:stretch/>
        </p:blipFill>
        <p:spPr>
          <a:xfrm>
            <a:off x="2939334" y="1685922"/>
            <a:ext cx="4050820" cy="4351338"/>
          </a:xfrm>
          <a:prstGeom prst="rect">
            <a:avLst/>
          </a:prstGeom>
          <a:noFill/>
          <a:ln>
            <a:noFill/>
          </a:ln>
        </p:spPr>
      </p:pic>
      <p:pic>
        <p:nvPicPr>
          <p:cNvPr descr="Image depicts a code snippet with various variables (ram, psu, storage) and conditional logic, adding elements to an array called 'rows' based on their values.&#10;&#10;KI-generierte Inhalte können fehlerhaft sein." id="217" name="Google Shape;217;p18"/>
          <p:cNvPicPr preferRelativeResize="0"/>
          <p:nvPr/>
        </p:nvPicPr>
        <p:blipFill rotWithShape="1">
          <a:blip r:embed="rId4">
            <a:alphaModFix/>
          </a:blip>
          <a:srcRect b="0" l="0" r="0" t="0"/>
          <a:stretch/>
        </p:blipFill>
        <p:spPr>
          <a:xfrm>
            <a:off x="7160582" y="1686580"/>
            <a:ext cx="4593268" cy="43506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3.1 Open/Close Principle – Negativ - UML</a:t>
            </a:r>
            <a:endParaRPr/>
          </a:p>
        </p:txBody>
      </p:sp>
      <p:pic>
        <p:nvPicPr>
          <p:cNvPr id="223" name="Google Shape;223;p19"/>
          <p:cNvPicPr preferRelativeResize="0"/>
          <p:nvPr>
            <p:ph idx="1" type="body"/>
          </p:nvPr>
        </p:nvPicPr>
        <p:blipFill rotWithShape="1">
          <a:blip r:embed="rId3">
            <a:alphaModFix/>
          </a:blip>
          <a:srcRect b="0" l="0" r="0" t="0"/>
          <a:stretch/>
        </p:blipFill>
        <p:spPr>
          <a:xfrm>
            <a:off x="3371850" y="2029619"/>
            <a:ext cx="5448300" cy="3943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3.1 Open/Close Principle – Negativ – UML- Lösung</a:t>
            </a:r>
            <a:endParaRPr/>
          </a:p>
        </p:txBody>
      </p:sp>
      <p:pic>
        <p:nvPicPr>
          <p:cNvPr id="230" name="Google Shape;230;p20"/>
          <p:cNvPicPr preferRelativeResize="0"/>
          <p:nvPr/>
        </p:nvPicPr>
        <p:blipFill>
          <a:blip r:embed="rId3">
            <a:alphaModFix/>
          </a:blip>
          <a:stretch>
            <a:fillRect/>
          </a:stretch>
        </p:blipFill>
        <p:spPr>
          <a:xfrm>
            <a:off x="1185863" y="1898675"/>
            <a:ext cx="9820275" cy="3790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3.2 Dependency Inversion Principle (DIP) - Positiv</a:t>
            </a:r>
            <a:endParaRPr/>
          </a:p>
        </p:txBody>
      </p:sp>
      <p:pic>
        <p:nvPicPr>
          <p:cNvPr descr="The provided text is a snippet of Java code, specifically a class definition for a menu component in a command-line interface application.&#10;&#10;KI-generierte Inhalte können fehlerhaft sein." id="237" name="Google Shape;237;p21"/>
          <p:cNvPicPr preferRelativeResize="0"/>
          <p:nvPr>
            <p:ph idx="1" type="body"/>
          </p:nvPr>
        </p:nvPicPr>
        <p:blipFill rotWithShape="1">
          <a:blip r:embed="rId3">
            <a:alphaModFix/>
          </a:blip>
          <a:srcRect b="0" l="0" r="0" t="0"/>
          <a:stretch/>
        </p:blipFill>
        <p:spPr>
          <a:xfrm>
            <a:off x="2867765" y="1690688"/>
            <a:ext cx="3408469" cy="4351338"/>
          </a:xfrm>
          <a:prstGeom prst="rect">
            <a:avLst/>
          </a:prstGeom>
          <a:noFill/>
          <a:ln>
            <a:noFill/>
          </a:ln>
        </p:spPr>
      </p:pic>
      <p:pic>
        <p:nvPicPr>
          <p:cNvPr descr="The image depicts a segment of Java code, specifically a method for rendering content in a menu and managing its components.&#10;&#10;KI-generierte Inhalte können fehlerhaft sein." id="238" name="Google Shape;238;p21"/>
          <p:cNvPicPr preferRelativeResize="0"/>
          <p:nvPr/>
        </p:nvPicPr>
        <p:blipFill rotWithShape="1">
          <a:blip r:embed="rId4">
            <a:alphaModFix/>
          </a:blip>
          <a:srcRect b="0" l="0" r="0" t="0"/>
          <a:stretch/>
        </p:blipFill>
        <p:spPr>
          <a:xfrm>
            <a:off x="6701470" y="1690688"/>
            <a:ext cx="2622765" cy="4351338"/>
          </a:xfrm>
          <a:prstGeom prst="rect">
            <a:avLst/>
          </a:prstGeom>
          <a:noFill/>
          <a:ln>
            <a:noFill/>
          </a:ln>
        </p:spPr>
      </p:pic>
      <p:sp>
        <p:nvSpPr>
          <p:cNvPr id="239" name="Google Shape;239;p21"/>
          <p:cNvSpPr txBox="1"/>
          <p:nvPr/>
        </p:nvSpPr>
        <p:spPr>
          <a:xfrm>
            <a:off x="838200" y="1690688"/>
            <a:ext cx="20996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Menu.java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3.2 DIP – Positiv – UML </a:t>
            </a:r>
            <a:endParaRPr/>
          </a:p>
        </p:txBody>
      </p:sp>
      <p:pic>
        <p:nvPicPr>
          <p:cNvPr id="245" name="Google Shape;245;p22"/>
          <p:cNvPicPr preferRelativeResize="0"/>
          <p:nvPr/>
        </p:nvPicPr>
        <p:blipFill>
          <a:blip r:embed="rId3">
            <a:alphaModFix/>
          </a:blip>
          <a:stretch>
            <a:fillRect/>
          </a:stretch>
        </p:blipFill>
        <p:spPr>
          <a:xfrm>
            <a:off x="1715863" y="1217150"/>
            <a:ext cx="8760275" cy="49577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3.2 DIP- Negativ</a:t>
            </a:r>
            <a:endParaRPr/>
          </a:p>
        </p:txBody>
      </p:sp>
      <p:sp>
        <p:nvSpPr>
          <p:cNvPr id="252" name="Google Shape;252;p23"/>
          <p:cNvSpPr txBox="1"/>
          <p:nvPr/>
        </p:nvSpPr>
        <p:spPr>
          <a:xfrm>
            <a:off x="838200" y="1563700"/>
            <a:ext cx="4432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NewUserCommand.java</a:t>
            </a:r>
            <a:endParaRPr/>
          </a:p>
        </p:txBody>
      </p:sp>
      <p:pic>
        <p:nvPicPr>
          <p:cNvPr descr="A Java class snippet defining a command to add a new user, checking for uniqueness and printing messages accordingly.&#10;&#10;KI-generierte Inhalte können fehlerhaft sein." id="253" name="Google Shape;253;p23"/>
          <p:cNvPicPr preferRelativeResize="0"/>
          <p:nvPr/>
        </p:nvPicPr>
        <p:blipFill rotWithShape="1">
          <a:blip r:embed="rId3">
            <a:alphaModFix/>
          </a:blip>
          <a:srcRect b="0" l="0" r="0" t="0"/>
          <a:stretch/>
        </p:blipFill>
        <p:spPr>
          <a:xfrm>
            <a:off x="5130800" y="1563688"/>
            <a:ext cx="4339703" cy="478822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3.2 DIP- Negativ - UML</a:t>
            </a:r>
            <a:endParaRPr/>
          </a:p>
        </p:txBody>
      </p:sp>
      <p:pic>
        <p:nvPicPr>
          <p:cNvPr id="260" name="Google Shape;260;p24"/>
          <p:cNvPicPr preferRelativeResize="0"/>
          <p:nvPr/>
        </p:nvPicPr>
        <p:blipFill>
          <a:blip r:embed="rId3">
            <a:alphaModFix/>
          </a:blip>
          <a:stretch>
            <a:fillRect/>
          </a:stretch>
        </p:blipFill>
        <p:spPr>
          <a:xfrm>
            <a:off x="2974525" y="2159450"/>
            <a:ext cx="6242949" cy="3134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3.2 DIP- Negativ – UML - Lösung</a:t>
            </a:r>
            <a:endParaRPr/>
          </a:p>
        </p:txBody>
      </p:sp>
      <p:pic>
        <p:nvPicPr>
          <p:cNvPr id="266" name="Google Shape;266;p25"/>
          <p:cNvPicPr preferRelativeResize="0"/>
          <p:nvPr/>
        </p:nvPicPr>
        <p:blipFill>
          <a:blip r:embed="rId3">
            <a:alphaModFix/>
          </a:blip>
          <a:stretch>
            <a:fillRect/>
          </a:stretch>
        </p:blipFill>
        <p:spPr>
          <a:xfrm>
            <a:off x="3140751" y="1690700"/>
            <a:ext cx="6293525" cy="4243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4. GRASP – Low Coupeling - Positiv </a:t>
            </a:r>
            <a:endParaRPr/>
          </a:p>
        </p:txBody>
      </p:sp>
      <p:pic>
        <p:nvPicPr>
          <p:cNvPr descr="The image depicts a segment of Java code, specifically a generic class `JdbcRepository` from the `de. ase.pcpartpicker. adapters. sqlite.repositories` package, including annotations and method definitions.&#10;&#10;KI-generierte Inhalte können fehlerhaft sein." id="273" name="Google Shape;273;p26"/>
          <p:cNvPicPr preferRelativeResize="0"/>
          <p:nvPr>
            <p:ph idx="1" type="body"/>
          </p:nvPr>
        </p:nvPicPr>
        <p:blipFill rotWithShape="1">
          <a:blip r:embed="rId3">
            <a:alphaModFix/>
          </a:blip>
          <a:srcRect b="0" l="0" r="0" t="0"/>
          <a:stretch/>
        </p:blipFill>
        <p:spPr>
          <a:xfrm>
            <a:off x="3467514" y="1570832"/>
            <a:ext cx="3007844" cy="5041900"/>
          </a:xfrm>
          <a:prstGeom prst="rect">
            <a:avLst/>
          </a:prstGeom>
          <a:noFill/>
          <a:ln>
            <a:noFill/>
          </a:ln>
        </p:spPr>
      </p:pic>
      <p:pic>
        <p:nvPicPr>
          <p:cNvPr descr="The image depicts a segment of a Java code, specifically a method that handles optional query execution with error handling, including prepared statement configuration and result set processing.&#10;&#10;KI-generierte Inhalte können fehlerhaft sein." id="274" name="Google Shape;274;p26"/>
          <p:cNvPicPr preferRelativeResize="0"/>
          <p:nvPr/>
        </p:nvPicPr>
        <p:blipFill rotWithShape="1">
          <a:blip r:embed="rId4">
            <a:alphaModFix/>
          </a:blip>
          <a:srcRect b="0" l="0" r="0" t="0"/>
          <a:stretch/>
        </p:blipFill>
        <p:spPr>
          <a:xfrm>
            <a:off x="6971001" y="1570832"/>
            <a:ext cx="3767262" cy="5041900"/>
          </a:xfrm>
          <a:prstGeom prst="rect">
            <a:avLst/>
          </a:prstGeom>
          <a:noFill/>
          <a:ln>
            <a:noFill/>
          </a:ln>
        </p:spPr>
      </p:pic>
      <p:sp>
        <p:nvSpPr>
          <p:cNvPr id="275" name="Google Shape;275;p26"/>
          <p:cNvSpPr txBox="1"/>
          <p:nvPr/>
        </p:nvSpPr>
        <p:spPr>
          <a:xfrm>
            <a:off x="102741" y="1570832"/>
            <a:ext cx="350348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JdbcRepository.java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4. Low Coupeling – Positiv – UML </a:t>
            </a:r>
            <a:endParaRPr/>
          </a:p>
        </p:txBody>
      </p:sp>
      <p:pic>
        <p:nvPicPr>
          <p:cNvPr id="282" name="Google Shape;282;p27"/>
          <p:cNvPicPr preferRelativeResize="0"/>
          <p:nvPr>
            <p:ph idx="1" type="body"/>
          </p:nvPr>
        </p:nvPicPr>
        <p:blipFill rotWithShape="1">
          <a:blip r:embed="rId3">
            <a:alphaModFix/>
          </a:blip>
          <a:srcRect b="0" l="0" r="0" t="0"/>
          <a:stretch/>
        </p:blipFill>
        <p:spPr>
          <a:xfrm>
            <a:off x="2862262" y="1690688"/>
            <a:ext cx="6010275" cy="3943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4.1 Polymorphismus - Positiv </a:t>
            </a:r>
            <a:endParaRPr/>
          </a:p>
        </p:txBody>
      </p:sp>
      <p:pic>
        <p:nvPicPr>
          <p:cNvPr descr="The image shows a portion of a Java code snippet, specifically a class definition for a menu item in a command-line interface application, with methods for setting a title, command, and visibility.&#10;&#10;KI-generierte Inhalte können fehlerhaft sein." id="289" name="Google Shape;289;p28"/>
          <p:cNvPicPr preferRelativeResize="0"/>
          <p:nvPr>
            <p:ph idx="1" type="body"/>
          </p:nvPr>
        </p:nvPicPr>
        <p:blipFill rotWithShape="1">
          <a:blip r:embed="rId3">
            <a:alphaModFix/>
          </a:blip>
          <a:srcRect b="0" l="0" r="0" t="0"/>
          <a:stretch/>
        </p:blipFill>
        <p:spPr>
          <a:xfrm>
            <a:off x="4157177" y="1482725"/>
            <a:ext cx="3877645" cy="4890724"/>
          </a:xfrm>
          <a:prstGeom prst="rect">
            <a:avLst/>
          </a:prstGeom>
          <a:noFill/>
          <a:ln>
            <a:noFill/>
          </a:ln>
        </p:spPr>
      </p:pic>
      <p:sp>
        <p:nvSpPr>
          <p:cNvPr id="290" name="Google Shape;290;p28"/>
          <p:cNvSpPr txBox="1"/>
          <p:nvPr/>
        </p:nvSpPr>
        <p:spPr>
          <a:xfrm>
            <a:off x="1394927" y="1482725"/>
            <a:ext cx="269557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MenuItem.java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4.1 Polymorphismus - Positiv - UML</a:t>
            </a:r>
            <a:endParaRPr/>
          </a:p>
        </p:txBody>
      </p:sp>
      <p:pic>
        <p:nvPicPr>
          <p:cNvPr id="297" name="Google Shape;297;p29"/>
          <p:cNvPicPr preferRelativeResize="0"/>
          <p:nvPr>
            <p:ph idx="1" type="body"/>
          </p:nvPr>
        </p:nvPicPr>
        <p:blipFill rotWithShape="1">
          <a:blip r:embed="rId3">
            <a:alphaModFix/>
          </a:blip>
          <a:srcRect b="0" l="0" r="0" t="0"/>
          <a:stretch/>
        </p:blipFill>
        <p:spPr>
          <a:xfrm>
            <a:off x="1719262" y="2362994"/>
            <a:ext cx="8753475" cy="3276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4.2 Dont Repeat Yourself (DRY) - Vorher</a:t>
            </a:r>
            <a:endParaRPr/>
          </a:p>
        </p:txBody>
      </p:sp>
      <p:pic>
        <p:nvPicPr>
          <p:cNvPr descr="Image description: A Java code snippet showing a static method named `getComputerAsTableRows` within a class `TableUtils` that constructs a two-dimensional array of strings, intended to represent a table of computer specifications.&#10;&#10;KI-generierte Inhalte können fehlerhaft sein." id="303" name="Google Shape;303;p30"/>
          <p:cNvPicPr preferRelativeResize="0"/>
          <p:nvPr>
            <p:ph idx="1" type="body"/>
          </p:nvPr>
        </p:nvPicPr>
        <p:blipFill rotWithShape="1">
          <a:blip r:embed="rId3">
            <a:alphaModFix/>
          </a:blip>
          <a:srcRect b="0" l="0" r="0" t="0"/>
          <a:stretch/>
        </p:blipFill>
        <p:spPr>
          <a:xfrm>
            <a:off x="3248440" y="1686900"/>
            <a:ext cx="2551870" cy="4351338"/>
          </a:xfrm>
          <a:prstGeom prst="rect">
            <a:avLst/>
          </a:prstGeom>
          <a:noFill/>
          <a:ln>
            <a:noFill/>
          </a:ln>
        </p:spPr>
      </p:pic>
      <p:pic>
        <p:nvPicPr>
          <p:cNvPr descr="A table displaying CPU, GPU, and Mainboard details such as name, VRAM, and price, with some entries marked as not selected.&#10;&#10;KI-generierte Inhalte können fehlerhaft sein." id="304" name="Google Shape;304;p30"/>
          <p:cNvPicPr preferRelativeResize="0"/>
          <p:nvPr/>
        </p:nvPicPr>
        <p:blipFill rotWithShape="1">
          <a:blip r:embed="rId4">
            <a:alphaModFix/>
          </a:blip>
          <a:srcRect b="0" l="0" r="0" t="0"/>
          <a:stretch/>
        </p:blipFill>
        <p:spPr>
          <a:xfrm>
            <a:off x="6465005" y="1690688"/>
            <a:ext cx="3346993" cy="4343762"/>
          </a:xfrm>
          <a:prstGeom prst="rect">
            <a:avLst/>
          </a:prstGeom>
          <a:noFill/>
          <a:ln>
            <a:noFill/>
          </a:ln>
        </p:spPr>
      </p:pic>
      <p:sp>
        <p:nvSpPr>
          <p:cNvPr id="305" name="Google Shape;305;p30"/>
          <p:cNvSpPr txBox="1"/>
          <p:nvPr/>
        </p:nvSpPr>
        <p:spPr>
          <a:xfrm>
            <a:off x="666750" y="1686900"/>
            <a:ext cx="2693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TableUtils.java</a:t>
            </a:r>
            <a:endParaRPr/>
          </a:p>
        </p:txBody>
      </p:sp>
      <p:sp>
        <p:nvSpPr>
          <p:cNvPr id="306" name="Google Shape;306;p30"/>
          <p:cNvSpPr txBox="1"/>
          <p:nvPr/>
        </p:nvSpPr>
        <p:spPr>
          <a:xfrm>
            <a:off x="666750" y="21194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DE" sz="1800">
                <a:solidFill>
                  <a:schemeClr val="dk1"/>
                </a:solidFill>
              </a:rPr>
              <a:t>Commit: 72507d2</a:t>
            </a:r>
            <a:endParaRPr b="1" sz="1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4.2 DRY - Nachher</a:t>
            </a:r>
            <a:endParaRPr/>
          </a:p>
        </p:txBody>
      </p:sp>
      <p:pic>
        <p:nvPicPr>
          <p:cNvPr descr="The image appears to be a snippet of code, specifically Java code, from a software application, possibly related to computer hardware parts or specifications.&#10;&#10;KI-generierte Inhalte können fehlerhaft sein." id="313" name="Google Shape;313;p31"/>
          <p:cNvPicPr preferRelativeResize="0"/>
          <p:nvPr>
            <p:ph idx="1" type="body"/>
          </p:nvPr>
        </p:nvPicPr>
        <p:blipFill rotWithShape="1">
          <a:blip r:embed="rId3">
            <a:alphaModFix/>
          </a:blip>
          <a:srcRect b="0" l="0" r="0" t="0"/>
          <a:stretch/>
        </p:blipFill>
        <p:spPr>
          <a:xfrm>
            <a:off x="2643935" y="1688714"/>
            <a:ext cx="4049922" cy="4351338"/>
          </a:xfrm>
          <a:prstGeom prst="rect">
            <a:avLst/>
          </a:prstGeom>
          <a:noFill/>
          <a:ln>
            <a:noFill/>
          </a:ln>
        </p:spPr>
      </p:pic>
      <p:pic>
        <p:nvPicPr>
          <p:cNvPr descr="Image depicts a code snippet with various variables (ram, psu, storage) and conditional logic, adding elements to an array called 'rows' based on their values.&#10;&#10;KI-generierte Inhalte können fehlerhaft sein." id="314" name="Google Shape;314;p31"/>
          <p:cNvPicPr preferRelativeResize="0"/>
          <p:nvPr/>
        </p:nvPicPr>
        <p:blipFill rotWithShape="1">
          <a:blip r:embed="rId4">
            <a:alphaModFix/>
          </a:blip>
          <a:srcRect b="0" l="0" r="0" t="0"/>
          <a:stretch/>
        </p:blipFill>
        <p:spPr>
          <a:xfrm>
            <a:off x="6865307" y="1689372"/>
            <a:ext cx="4593268" cy="4350680"/>
          </a:xfrm>
          <a:prstGeom prst="rect">
            <a:avLst/>
          </a:prstGeom>
          <a:noFill/>
          <a:ln>
            <a:noFill/>
          </a:ln>
        </p:spPr>
      </p:pic>
      <p:sp>
        <p:nvSpPr>
          <p:cNvPr id="315" name="Google Shape;315;p31"/>
          <p:cNvSpPr txBox="1"/>
          <p:nvPr/>
        </p:nvSpPr>
        <p:spPr>
          <a:xfrm>
            <a:off x="133350" y="1577459"/>
            <a:ext cx="609600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TableUtils.java</a:t>
            </a:r>
            <a:endParaRPr/>
          </a:p>
          <a:p>
            <a:pPr indent="0" lvl="0" marL="0" marR="0" rtl="0" algn="l">
              <a:spcBef>
                <a:spcPts val="0"/>
              </a:spcBef>
              <a:spcAft>
                <a:spcPts val="0"/>
              </a:spcAft>
              <a:buNone/>
            </a:pPr>
            <a:r>
              <a:t/>
            </a:r>
            <a:endParaRPr sz="2800">
              <a:solidFill>
                <a:schemeClr val="dk1"/>
              </a:solidFill>
              <a:latin typeface="Arial"/>
              <a:ea typeface="Arial"/>
              <a:cs typeface="Arial"/>
              <a:sym typeface="Arial"/>
            </a:endParaRPr>
          </a:p>
          <a:p>
            <a:pPr indent="0" lvl="0" marL="0" marR="0" rtl="0" algn="l">
              <a:spcBef>
                <a:spcPts val="0"/>
              </a:spcBef>
              <a:spcAft>
                <a:spcPts val="0"/>
              </a:spcAft>
              <a:buNone/>
            </a:pPr>
            <a:r>
              <a:t/>
            </a:r>
            <a:endParaRPr sz="2800">
              <a:solidFill>
                <a:schemeClr val="dk1"/>
              </a:solidFill>
              <a:latin typeface="Arial"/>
              <a:ea typeface="Arial"/>
              <a:cs typeface="Arial"/>
              <a:sym typeface="Arial"/>
            </a:endParaRPr>
          </a:p>
        </p:txBody>
      </p:sp>
      <p:sp>
        <p:nvSpPr>
          <p:cNvPr id="316" name="Google Shape;316;p31"/>
          <p:cNvSpPr txBox="1"/>
          <p:nvPr/>
        </p:nvSpPr>
        <p:spPr>
          <a:xfrm>
            <a:off x="141078" y="2085290"/>
            <a:ext cx="2038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chemeClr val="dk1"/>
                </a:solidFill>
                <a:latin typeface="Arial"/>
                <a:ea typeface="Arial"/>
                <a:cs typeface="Arial"/>
                <a:sym typeface="Arial"/>
              </a:rPr>
              <a:t>Commit: 72507d2</a:t>
            </a:r>
            <a:endParaRPr b="1" sz="18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4.2 DRY – UML </a:t>
            </a:r>
            <a:endParaRPr/>
          </a:p>
        </p:txBody>
      </p:sp>
      <p:pic>
        <p:nvPicPr>
          <p:cNvPr id="322" name="Google Shape;322;p32"/>
          <p:cNvPicPr preferRelativeResize="0"/>
          <p:nvPr/>
        </p:nvPicPr>
        <p:blipFill>
          <a:blip r:embed="rId3">
            <a:alphaModFix/>
          </a:blip>
          <a:stretch>
            <a:fillRect/>
          </a:stretch>
        </p:blipFill>
        <p:spPr>
          <a:xfrm>
            <a:off x="3376613" y="1603825"/>
            <a:ext cx="5438775" cy="3943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Menu Tests</a:t>
            </a:r>
            <a:endParaRPr/>
          </a:p>
        </p:txBody>
      </p:sp>
      <p:pic>
        <p:nvPicPr>
          <p:cNvPr descr="A code snippet demonstrating a unit test for a `ShowListCommand` component that outputs a list of test components.&#10;&#10;KI-generierte Inhalte können fehlerhaft sein." id="328" name="Google Shape;328;p33"/>
          <p:cNvPicPr preferRelativeResize="0"/>
          <p:nvPr>
            <p:ph idx="1" type="body"/>
          </p:nvPr>
        </p:nvPicPr>
        <p:blipFill rotWithShape="1">
          <a:blip r:embed="rId3">
            <a:alphaModFix/>
          </a:blip>
          <a:srcRect b="0" l="0" r="0" t="0"/>
          <a:stretch/>
        </p:blipFill>
        <p:spPr>
          <a:xfrm>
            <a:off x="3199399" y="1825625"/>
            <a:ext cx="5793201" cy="435133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Menu Tests</a:t>
            </a:r>
            <a:endParaRPr/>
          </a:p>
        </p:txBody>
      </p:sp>
      <p:pic>
        <p:nvPicPr>
          <p:cNvPr descr="Auf Wiedersehen!&#10;&#10;KI-generierte Inhalte können fehlerhaft sein." id="334" name="Google Shape;334;p34"/>
          <p:cNvPicPr preferRelativeResize="0"/>
          <p:nvPr>
            <p:ph idx="1" type="body"/>
          </p:nvPr>
        </p:nvPicPr>
        <p:blipFill rotWithShape="1">
          <a:blip r:embed="rId3">
            <a:alphaModFix/>
          </a:blip>
          <a:srcRect b="0" l="0" r="0" t="0"/>
          <a:stretch/>
        </p:blipFill>
        <p:spPr>
          <a:xfrm>
            <a:off x="1531659" y="1825625"/>
            <a:ext cx="9128681" cy="435133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Menu Tests</a:t>
            </a:r>
            <a:endParaRPr/>
          </a:p>
        </p:txBody>
      </p:sp>
      <p:pic>
        <p:nvPicPr>
          <p:cNvPr descr="The image depicts a segment of a Java unit test code, specifically a test method checking if a custom `BackCommand` class executes a `Runnable` correctly.&#10;&#10;KI-generierte Inhalte können fehlerhaft sein." id="340" name="Google Shape;340;p35"/>
          <p:cNvPicPr preferRelativeResize="0"/>
          <p:nvPr>
            <p:ph idx="1" type="body"/>
          </p:nvPr>
        </p:nvPicPr>
        <p:blipFill rotWithShape="1">
          <a:blip r:embed="rId3">
            <a:alphaModFix/>
          </a:blip>
          <a:srcRect b="0" l="0" r="0" t="0"/>
          <a:stretch/>
        </p:blipFill>
        <p:spPr>
          <a:xfrm>
            <a:off x="1230146" y="1825625"/>
            <a:ext cx="9731708" cy="435133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Menu Tests</a:t>
            </a:r>
            <a:endParaRPr/>
          </a:p>
        </p:txBody>
      </p:sp>
      <p:pic>
        <p:nvPicPr>
          <p:cNvPr descr="The image depicts a code snippet in Java, featuring a unit test method with the purpose of verifying that a menu is successfully opened when an associated command is executed.&#10;&#10;KI-generierte Inhalte können fehlerhaft sein." id="346" name="Google Shape;346;p36"/>
          <p:cNvPicPr preferRelativeResize="0"/>
          <p:nvPr>
            <p:ph idx="1" type="body"/>
          </p:nvPr>
        </p:nvPicPr>
        <p:blipFill rotWithShape="1">
          <a:blip r:embed="rId3">
            <a:alphaModFix/>
          </a:blip>
          <a:srcRect b="0" l="0" r="0" t="0"/>
          <a:stretch/>
        </p:blipFill>
        <p:spPr>
          <a:xfrm>
            <a:off x="838200" y="2119007"/>
            <a:ext cx="10515600" cy="370742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Database Tests</a:t>
            </a:r>
            <a:endParaRPr/>
          </a:p>
        </p:txBody>
      </p:sp>
      <p:pic>
        <p:nvPicPr>
          <p:cNvPr descr="The image depicts a code snippet in Java, illustrating a unit test for a user repository's ability to save and retrieve a user object.&#10;&#10;KI-generierte Inhalte können fehlerhaft sein." id="352" name="Google Shape;352;p37"/>
          <p:cNvPicPr preferRelativeResize="0"/>
          <p:nvPr>
            <p:ph idx="1" type="body"/>
          </p:nvPr>
        </p:nvPicPr>
        <p:blipFill rotWithShape="1">
          <a:blip r:embed="rId3">
            <a:alphaModFix/>
          </a:blip>
          <a:srcRect b="0" l="0" r="0" t="0"/>
          <a:stretch/>
        </p:blipFill>
        <p:spPr>
          <a:xfrm>
            <a:off x="1475293" y="1768475"/>
            <a:ext cx="9241413" cy="435133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Database Tests</a:t>
            </a:r>
            <a:endParaRPr/>
          </a:p>
        </p:txBody>
      </p:sp>
      <p:pic>
        <p:nvPicPr>
          <p:cNvPr descr="The image shows a code snippet from a unit test class, demonstrating a method to save and load a computer object associated with a user in a database.&#10;&#10;KI-generierte Inhalte können fehlerhaft sein." id="358" name="Google Shape;358;p38"/>
          <p:cNvPicPr preferRelativeResize="0"/>
          <p:nvPr>
            <p:ph idx="1" type="body"/>
          </p:nvPr>
        </p:nvPicPr>
        <p:blipFill rotWithShape="1">
          <a:blip r:embed="rId3">
            <a:alphaModFix/>
          </a:blip>
          <a:srcRect b="0" l="0" r="0" t="0"/>
          <a:stretch/>
        </p:blipFill>
        <p:spPr>
          <a:xfrm>
            <a:off x="2224520" y="1825625"/>
            <a:ext cx="7742959" cy="435133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Domain Tests</a:t>
            </a:r>
            <a:endParaRPr/>
          </a:p>
        </p:txBody>
      </p:sp>
      <p:pic>
        <p:nvPicPr>
          <p:cNvPr descr="The image depicts a snippet of code in a testing environment, specifically a unit test for a GPU object with attributes like name, price, manufacturer, core clock, boost clock, VRAM, and power consumption.&#10;&#10;KI-generierte Inhalte können fehlerhaft sein." id="364" name="Google Shape;364;p39"/>
          <p:cNvPicPr preferRelativeResize="0"/>
          <p:nvPr>
            <p:ph idx="1" type="body"/>
          </p:nvPr>
        </p:nvPicPr>
        <p:blipFill rotWithShape="1">
          <a:blip r:embed="rId3">
            <a:alphaModFix/>
          </a:blip>
          <a:srcRect b="0" l="0" r="0" t="0"/>
          <a:stretch/>
        </p:blipFill>
        <p:spPr>
          <a:xfrm>
            <a:off x="838200" y="2284218"/>
            <a:ext cx="10515600" cy="32627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Computer Tests</a:t>
            </a:r>
            <a:endParaRPr/>
          </a:p>
        </p:txBody>
      </p:sp>
      <p:pic>
        <p:nvPicPr>
          <p:cNvPr descr="A Java code snippet outlines a method for testing the construction of a computer object with specified components such as CPU, GPU, RAM, PSU, case, and storage devices.&#10;&#10;KI-generierte Inhalte können fehlerhaft sein." id="370" name="Google Shape;370;p40"/>
          <p:cNvPicPr preferRelativeResize="0"/>
          <p:nvPr>
            <p:ph idx="1" type="body"/>
          </p:nvPr>
        </p:nvPicPr>
        <p:blipFill rotWithShape="1">
          <a:blip r:embed="rId3">
            <a:alphaModFix/>
          </a:blip>
          <a:srcRect b="0" l="0" r="0" t="0"/>
          <a:stretch/>
        </p:blipFill>
        <p:spPr>
          <a:xfrm>
            <a:off x="838200" y="1830666"/>
            <a:ext cx="10515600" cy="420790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Computer Tests</a:t>
            </a:r>
            <a:endParaRPr/>
          </a:p>
        </p:txBody>
      </p:sp>
      <p:pic>
        <p:nvPicPr>
          <p:cNvPr descr="The provided text is a snippet of Java code that defines a unit test method for a Computer class. The test checks if the Computer object is null when its attributes are set to null, which includes CPU, GPU, mainboard, RAM, PSU, computer case, and an empty array of storage devices.&#10;&#10;KI-generierte Inhalte können fehlerhaft sein." id="377" name="Google Shape;377;p41"/>
          <p:cNvPicPr preferRelativeResize="0"/>
          <p:nvPr>
            <p:ph idx="1" type="body"/>
          </p:nvPr>
        </p:nvPicPr>
        <p:blipFill rotWithShape="1">
          <a:blip r:embed="rId3">
            <a:alphaModFix/>
          </a:blip>
          <a:srcRect b="0" l="0" r="0" t="0"/>
          <a:stretch/>
        </p:blipFill>
        <p:spPr>
          <a:xfrm>
            <a:off x="3086542" y="1825625"/>
            <a:ext cx="6018916" cy="435133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 Unit Tests – User Tests</a:t>
            </a:r>
            <a:endParaRPr/>
          </a:p>
        </p:txBody>
      </p:sp>
      <p:pic>
        <p:nvPicPr>
          <p:cNvPr descr="The image displays a snippet of Java code, specifically a JUnit test method for a login process, including a flow input string, a test execution, and assertions to verify the user's login status and session data.&#10;&#10;KI-generierte Inhalte können fehlerhaft sein." id="383" name="Google Shape;383;p42"/>
          <p:cNvPicPr preferRelativeResize="0"/>
          <p:nvPr>
            <p:ph idx="1" type="body"/>
          </p:nvPr>
        </p:nvPicPr>
        <p:blipFill rotWithShape="1">
          <a:blip r:embed="rId3">
            <a:alphaModFix/>
          </a:blip>
          <a:srcRect b="0" l="0" r="0" t="0"/>
          <a:stretch/>
        </p:blipFill>
        <p:spPr>
          <a:xfrm>
            <a:off x="1811434" y="1825625"/>
            <a:ext cx="8569131" cy="435133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Automatic</a:t>
            </a:r>
            <a:endParaRPr/>
          </a:p>
        </p:txBody>
      </p:sp>
      <p:sp>
        <p:nvSpPr>
          <p:cNvPr id="390" name="Google Shape;390;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Automatisierung Benutzereingaben </a:t>
            </a:r>
            <a:endParaRPr/>
          </a:p>
          <a:p>
            <a:pPr indent="-228600" lvl="1" marL="685800" rtl="0" algn="l">
              <a:lnSpc>
                <a:spcPct val="90000"/>
              </a:lnSpc>
              <a:spcBef>
                <a:spcPts val="500"/>
              </a:spcBef>
              <a:spcAft>
                <a:spcPts val="0"/>
              </a:spcAft>
              <a:buClr>
                <a:schemeClr val="dk1"/>
              </a:buClr>
              <a:buSzPts val="2400"/>
              <a:buChar char="•"/>
            </a:pPr>
            <a:r>
              <a:rPr lang="de-DE"/>
              <a:t>ByteArrayInputStream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The image displays a snippet of Java code, specifically a JUnit test method for a login process, including a flow input string, a test execution, and assertions to verify the user's login status and session data.&#10;&#10;KI-generierte Inhalte können fehlerhaft sein." id="391" name="Google Shape;391;p43"/>
          <p:cNvPicPr preferRelativeResize="0"/>
          <p:nvPr/>
        </p:nvPicPr>
        <p:blipFill rotWithShape="1">
          <a:blip r:embed="rId3">
            <a:alphaModFix/>
          </a:blip>
          <a:srcRect b="0" l="0" r="0" t="0"/>
          <a:stretch/>
        </p:blipFill>
        <p:spPr>
          <a:xfrm>
            <a:off x="2724992" y="2753420"/>
            <a:ext cx="6742016" cy="342354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Automatic</a:t>
            </a:r>
            <a:endParaRPr/>
          </a:p>
        </p:txBody>
      </p:sp>
      <p:sp>
        <p:nvSpPr>
          <p:cNvPr id="397" name="Google Shape;397;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Automatisches Setup mit @BeforeEach z.B. bei UserTests</a:t>
            </a:r>
            <a:endParaRPr/>
          </a:p>
        </p:txBody>
      </p:sp>
      <p:pic>
        <p:nvPicPr>
          <p:cNvPr descr="The code snippet provided is a method in a programming language (likely Java) that initializes some components before a test.&#10;&#10;KI-generierte Inhalte können fehlerhaft sein." id="398" name="Google Shape;398;p44"/>
          <p:cNvPicPr preferRelativeResize="0"/>
          <p:nvPr/>
        </p:nvPicPr>
        <p:blipFill rotWithShape="1">
          <a:blip r:embed="rId3">
            <a:alphaModFix/>
          </a:blip>
          <a:srcRect b="0" l="0" r="0" t="0"/>
          <a:stretch/>
        </p:blipFill>
        <p:spPr>
          <a:xfrm>
            <a:off x="2545926" y="2465335"/>
            <a:ext cx="7100148" cy="360209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Automatic</a:t>
            </a:r>
            <a:endParaRPr/>
          </a:p>
        </p:txBody>
      </p:sp>
      <p:sp>
        <p:nvSpPr>
          <p:cNvPr id="404" name="Google Shape;404;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Automatisches „Tear-Down“, sodass der Originalzustand wiederhergestellt wird</a:t>
            </a:r>
            <a:endParaRPr/>
          </a:p>
        </p:txBody>
      </p:sp>
      <p:pic>
        <p:nvPicPr>
          <p:cNvPr descr="The image shows a snippet of Java code with a method named `tearDownEach` that includes five lines, including a session manager reset and restoring original input and output streams.&#10;&#10;KI-generierte Inhalte können fehlerhaft sein." id="405" name="Google Shape;405;p45"/>
          <p:cNvPicPr preferRelativeResize="0"/>
          <p:nvPr/>
        </p:nvPicPr>
        <p:blipFill rotWithShape="1">
          <a:blip r:embed="rId3">
            <a:alphaModFix/>
          </a:blip>
          <a:srcRect b="0" l="0" r="0" t="0"/>
          <a:stretch/>
        </p:blipFill>
        <p:spPr>
          <a:xfrm>
            <a:off x="2276475" y="2709863"/>
            <a:ext cx="7639050" cy="34671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Automatic</a:t>
            </a:r>
            <a:endParaRPr/>
          </a:p>
        </p:txBody>
      </p:sp>
      <p:sp>
        <p:nvSpPr>
          <p:cNvPr id="411" name="Google Shape;41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Selbständige Bewertung der Tests durch Assertions</a:t>
            </a:r>
            <a:endParaRPr/>
          </a:p>
        </p:txBody>
      </p:sp>
      <p:pic>
        <p:nvPicPr>
          <p:cNvPr descr="The image displays a snippet of Java code, specifically a JUnit test method for a login process, including a flow input string, a test execution, and assertions to verify the user's login status and session data.&#10;&#10;KI-generierte Inhalte können fehlerhaft sein." id="412" name="Google Shape;412;p46"/>
          <p:cNvPicPr preferRelativeResize="0"/>
          <p:nvPr/>
        </p:nvPicPr>
        <p:blipFill rotWithShape="1">
          <a:blip r:embed="rId3">
            <a:alphaModFix/>
          </a:blip>
          <a:srcRect b="0" l="0" r="0" t="0"/>
          <a:stretch/>
        </p:blipFill>
        <p:spPr>
          <a:xfrm>
            <a:off x="2792574" y="2488226"/>
            <a:ext cx="6606852" cy="335490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Thorough</a:t>
            </a:r>
            <a:endParaRPr/>
          </a:p>
        </p:txBody>
      </p:sp>
      <p:sp>
        <p:nvSpPr>
          <p:cNvPr id="419" name="Google Shape;419;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Testen von korrekten, als auch inkorrekten Eingaben</a:t>
            </a:r>
            <a:endParaRPr/>
          </a:p>
        </p:txBody>
      </p:sp>
      <p:pic>
        <p:nvPicPr>
          <p:cNvPr descr="The image depicts a code snippet, specifically a unit test method in Java, designed to create a computer configuration by setting up various hardware components and their IDs.&#10;&#10;KI-generierte Inhalte können fehlerhaft sein." id="420" name="Google Shape;420;p47"/>
          <p:cNvPicPr preferRelativeResize="0"/>
          <p:nvPr/>
        </p:nvPicPr>
        <p:blipFill rotWithShape="1">
          <a:blip r:embed="rId3">
            <a:alphaModFix/>
          </a:blip>
          <a:srcRect b="0" l="0" r="0" t="0"/>
          <a:stretch/>
        </p:blipFill>
        <p:spPr>
          <a:xfrm>
            <a:off x="417985" y="2339751"/>
            <a:ext cx="5184529" cy="3837212"/>
          </a:xfrm>
          <a:prstGeom prst="rect">
            <a:avLst/>
          </a:prstGeom>
          <a:noFill/>
          <a:ln>
            <a:noFill/>
          </a:ln>
        </p:spPr>
      </p:pic>
      <p:pic>
        <p:nvPicPr>
          <p:cNvPr descr="The image appears to be a code snippet, specifically a piece of a unit test in Java, checking for an error when a user is created without associated components.&#10;&#10;KI-generierte Inhalte können fehlerhaft sein." id="421" name="Google Shape;421;p47"/>
          <p:cNvPicPr preferRelativeResize="0"/>
          <p:nvPr/>
        </p:nvPicPr>
        <p:blipFill rotWithShape="1">
          <a:blip r:embed="rId4">
            <a:alphaModFix/>
          </a:blip>
          <a:srcRect b="0" l="0" r="0" t="0"/>
          <a:stretch/>
        </p:blipFill>
        <p:spPr>
          <a:xfrm>
            <a:off x="5907314" y="2659406"/>
            <a:ext cx="6096000" cy="319790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g3db9aec7bfb_0_1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Thorough</a:t>
            </a:r>
            <a:endParaRPr/>
          </a:p>
        </p:txBody>
      </p:sp>
      <p:pic>
        <p:nvPicPr>
          <p:cNvPr id="428" name="Google Shape;428;g3db9aec7bfb_0_11"/>
          <p:cNvPicPr preferRelativeResize="0"/>
          <p:nvPr/>
        </p:nvPicPr>
        <p:blipFill>
          <a:blip r:embed="rId3">
            <a:alphaModFix/>
          </a:blip>
          <a:stretch>
            <a:fillRect/>
          </a:stretch>
        </p:blipFill>
        <p:spPr>
          <a:xfrm>
            <a:off x="409575" y="2266425"/>
            <a:ext cx="11372850" cy="25717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Professional</a:t>
            </a:r>
            <a:endParaRPr/>
          </a:p>
        </p:txBody>
      </p:sp>
      <p:sp>
        <p:nvSpPr>
          <p:cNvPr id="434" name="Google Shape;434;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Test folgen denselben Prinzipien wie der restliche Code </a:t>
            </a:r>
            <a:endParaRPr/>
          </a:p>
          <a:p>
            <a:pPr indent="-228600" lvl="1" marL="685800" rtl="0" algn="l">
              <a:lnSpc>
                <a:spcPct val="90000"/>
              </a:lnSpc>
              <a:spcBef>
                <a:spcPts val="500"/>
              </a:spcBef>
              <a:spcAft>
                <a:spcPts val="0"/>
              </a:spcAft>
              <a:buClr>
                <a:schemeClr val="dk1"/>
              </a:buClr>
              <a:buSzPts val="2400"/>
              <a:buChar char="•"/>
            </a:pPr>
            <a:r>
              <a:rPr lang="de-DE"/>
              <a:t>Arrange, Act, Assert (Vorbereiten, Ausführen, Überprüfen)</a:t>
            </a:r>
            <a:endParaRPr/>
          </a:p>
        </p:txBody>
      </p:sp>
      <p:pic>
        <p:nvPicPr>
          <p:cNvPr descr="The code snippet provided is a method in a programming language (likely Java) that initializes some components before a test.&#10;&#10;KI-generierte Inhalte können fehlerhaft sein." id="435" name="Google Shape;435;p48"/>
          <p:cNvPicPr preferRelativeResize="0"/>
          <p:nvPr/>
        </p:nvPicPr>
        <p:blipFill rotWithShape="1">
          <a:blip r:embed="rId3">
            <a:alphaModFix/>
          </a:blip>
          <a:srcRect b="0" l="0" r="0" t="0"/>
          <a:stretch/>
        </p:blipFill>
        <p:spPr>
          <a:xfrm>
            <a:off x="155901" y="3429000"/>
            <a:ext cx="3711250" cy="1882814"/>
          </a:xfrm>
          <a:prstGeom prst="rect">
            <a:avLst/>
          </a:prstGeom>
          <a:noFill/>
          <a:ln>
            <a:noFill/>
          </a:ln>
        </p:spPr>
      </p:pic>
      <p:pic>
        <p:nvPicPr>
          <p:cNvPr descr="The image displays a snippet of Java code, specifically a JUnit test method for a login process, including a flow input string, a test execution, and assertions to verify the user's login status and session data.&#10;&#10;KI-generierte Inhalte können fehlerhaft sein." id="436" name="Google Shape;436;p48"/>
          <p:cNvPicPr preferRelativeResize="0"/>
          <p:nvPr/>
        </p:nvPicPr>
        <p:blipFill rotWithShape="1">
          <a:blip r:embed="rId4">
            <a:alphaModFix/>
          </a:blip>
          <a:srcRect b="0" l="0" r="0" t="0"/>
          <a:stretch/>
        </p:blipFill>
        <p:spPr>
          <a:xfrm>
            <a:off x="3989537" y="3428244"/>
            <a:ext cx="3711250" cy="1884543"/>
          </a:xfrm>
          <a:prstGeom prst="rect">
            <a:avLst/>
          </a:prstGeom>
          <a:noFill/>
          <a:ln>
            <a:noFill/>
          </a:ln>
        </p:spPr>
      </p:pic>
      <p:pic>
        <p:nvPicPr>
          <p:cNvPr descr="The image shows a snippet of Java code with a method named `tearDownEach` that includes five lines, including a session manager reset and restoring original input and output streams.&#10;&#10;KI-generierte Inhalte können fehlerhaft sein." id="437" name="Google Shape;437;p48"/>
          <p:cNvPicPr preferRelativeResize="0"/>
          <p:nvPr/>
        </p:nvPicPr>
        <p:blipFill rotWithShape="1">
          <a:blip r:embed="rId5">
            <a:alphaModFix/>
          </a:blip>
          <a:srcRect b="0" l="0" r="0" t="0"/>
          <a:stretch/>
        </p:blipFill>
        <p:spPr>
          <a:xfrm>
            <a:off x="7823173" y="3428622"/>
            <a:ext cx="4150064" cy="188357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Professional</a:t>
            </a:r>
            <a:endParaRPr/>
          </a:p>
        </p:txBody>
      </p:sp>
      <p:sp>
        <p:nvSpPr>
          <p:cNvPr id="444" name="Google Shape;444;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Test folgen dem DRY Prinzip</a:t>
            </a:r>
            <a:endParaRPr/>
          </a:p>
        </p:txBody>
      </p:sp>
      <p:pic>
        <p:nvPicPr>
          <p:cNvPr descr="The image shows a portion of a Java code snippet, specifically a method with a string parameter, setting up byte streams, making fields accessible, and handling null checks for certain object instances.&#10;&#10;KI-generierte Inhalte können fehlerhaft sein." id="445" name="Google Shape;445;p49"/>
          <p:cNvPicPr preferRelativeResize="0"/>
          <p:nvPr/>
        </p:nvPicPr>
        <p:blipFill rotWithShape="1">
          <a:blip r:embed="rId3">
            <a:alphaModFix/>
          </a:blip>
          <a:srcRect b="0" l="0" r="0" t="0"/>
          <a:stretch/>
        </p:blipFill>
        <p:spPr>
          <a:xfrm>
            <a:off x="4040658" y="2286000"/>
            <a:ext cx="4110684" cy="40925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5.1 ATRIP - Professional</a:t>
            </a:r>
            <a:endParaRPr/>
          </a:p>
        </p:txBody>
      </p:sp>
      <p:sp>
        <p:nvSpPr>
          <p:cNvPr id="452" name="Google Shape;452;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Lesbarkeit durch Kommentare erhöhen</a:t>
            </a:r>
            <a:endParaRPr/>
          </a:p>
        </p:txBody>
      </p:sp>
      <p:pic>
        <p:nvPicPr>
          <p:cNvPr descr="The image displays a snippet of Java code, specifically a JUnit test method for a login process, including a flow input string, a test execution, and assertions to verify the user's login status and session data.&#10;&#10;KI-generierte Inhalte können fehlerhaft sein." id="453" name="Google Shape;453;p50"/>
          <p:cNvPicPr preferRelativeResize="0"/>
          <p:nvPr/>
        </p:nvPicPr>
        <p:blipFill rotWithShape="1">
          <a:blip r:embed="rId3">
            <a:alphaModFix/>
          </a:blip>
          <a:srcRect b="0" l="0" r="0" t="0"/>
          <a:stretch/>
        </p:blipFill>
        <p:spPr>
          <a:xfrm>
            <a:off x="2792574" y="2488226"/>
            <a:ext cx="6606852" cy="335490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1"/>
          <p:cNvSpPr txBox="1"/>
          <p:nvPr>
            <p:ph type="title"/>
          </p:nvPr>
        </p:nvSpPr>
        <p:spPr>
          <a:xfrm>
            <a:off x="838200" y="38742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5.2 Fakes und Mocks - UML </a:t>
            </a:r>
            <a:endParaRPr/>
          </a:p>
        </p:txBody>
      </p:sp>
      <p:pic>
        <p:nvPicPr>
          <p:cNvPr id="460" name="Google Shape;460;p51"/>
          <p:cNvPicPr preferRelativeResize="0"/>
          <p:nvPr>
            <p:ph idx="1" type="body"/>
          </p:nvPr>
        </p:nvPicPr>
        <p:blipFill rotWithShape="1">
          <a:blip r:embed="rId3">
            <a:alphaModFix/>
          </a:blip>
          <a:srcRect b="0" l="0" r="0" t="0"/>
          <a:stretch/>
        </p:blipFill>
        <p:spPr>
          <a:xfrm>
            <a:off x="3112454" y="1825625"/>
            <a:ext cx="5967092" cy="435133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6. Domain Driven Design (DDD) - Ubiquitous Language</a:t>
            </a:r>
            <a:endParaRPr/>
          </a:p>
        </p:txBody>
      </p:sp>
      <p:sp>
        <p:nvSpPr>
          <p:cNvPr id="467" name="Google Shape;467;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de-DE"/>
              <a:t>ComputerDraft</a:t>
            </a:r>
            <a:endParaRPr/>
          </a:p>
          <a:p>
            <a:pPr indent="-228600" lvl="0" marL="228600" rtl="0" algn="l">
              <a:lnSpc>
                <a:spcPct val="90000"/>
              </a:lnSpc>
              <a:spcBef>
                <a:spcPts val="1000"/>
              </a:spcBef>
              <a:spcAft>
                <a:spcPts val="0"/>
              </a:spcAft>
              <a:buClr>
                <a:schemeClr val="dk1"/>
              </a:buClr>
              <a:buSzPts val="2800"/>
              <a:buChar char="•"/>
            </a:pPr>
            <a:r>
              <a:rPr lang="de-DE"/>
              <a:t>MotherboardFormFactor</a:t>
            </a:r>
            <a:endParaRPr/>
          </a:p>
          <a:p>
            <a:pPr indent="-228600" lvl="0" marL="228600" rtl="0" algn="l">
              <a:lnSpc>
                <a:spcPct val="90000"/>
              </a:lnSpc>
              <a:spcBef>
                <a:spcPts val="1000"/>
              </a:spcBef>
              <a:spcAft>
                <a:spcPts val="0"/>
              </a:spcAft>
              <a:buClr>
                <a:schemeClr val="dk1"/>
              </a:buClr>
              <a:buSzPts val="2800"/>
              <a:buChar char="•"/>
            </a:pPr>
            <a:r>
              <a:rPr lang="de-DE"/>
              <a:t>PowerConsumption</a:t>
            </a:r>
            <a:endParaRPr/>
          </a:p>
          <a:p>
            <a:pPr indent="-292100" lvl="1" marL="685800" rtl="0" algn="l">
              <a:lnSpc>
                <a:spcPct val="90000"/>
              </a:lnSpc>
              <a:spcBef>
                <a:spcPts val="1000"/>
              </a:spcBef>
              <a:spcAft>
                <a:spcPts val="0"/>
              </a:spcAft>
              <a:buClr>
                <a:schemeClr val="dk1"/>
              </a:buClr>
              <a:buSzPts val="2800"/>
              <a:buChar char="•"/>
            </a:pPr>
            <a:r>
              <a:rPr lang="de-DE"/>
              <a:t>getWattage </a:t>
            </a:r>
            <a:endParaRPr/>
          </a:p>
          <a:p>
            <a:pPr indent="-228600" lvl="0" marL="228600" rtl="0" algn="l">
              <a:lnSpc>
                <a:spcPct val="90000"/>
              </a:lnSpc>
              <a:spcBef>
                <a:spcPts val="1000"/>
              </a:spcBef>
              <a:spcAft>
                <a:spcPts val="0"/>
              </a:spcAft>
              <a:buClr>
                <a:schemeClr val="dk1"/>
              </a:buClr>
              <a:buSzPts val="2800"/>
              <a:buChar char="•"/>
            </a:pPr>
            <a:r>
              <a:rPr lang="de-DE"/>
              <a:t>Bottleneck-Check</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6.1 DDD – Repositories – UML </a:t>
            </a:r>
            <a:endParaRPr/>
          </a:p>
        </p:txBody>
      </p:sp>
      <p:pic>
        <p:nvPicPr>
          <p:cNvPr id="474" name="Google Shape;474;p54"/>
          <p:cNvPicPr preferRelativeResize="0"/>
          <p:nvPr>
            <p:ph idx="1" type="body"/>
          </p:nvPr>
        </p:nvPicPr>
        <p:blipFill rotWithShape="1">
          <a:blip r:embed="rId3">
            <a:alphaModFix/>
          </a:blip>
          <a:srcRect b="0" l="0" r="0" t="0"/>
          <a:stretch/>
        </p:blipFill>
        <p:spPr>
          <a:xfrm>
            <a:off x="2890837" y="2262981"/>
            <a:ext cx="6410325" cy="34766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6.2 DDD – Aggregates </a:t>
            </a:r>
            <a:endParaRPr/>
          </a:p>
        </p:txBody>
      </p:sp>
      <p:pic>
        <p:nvPicPr>
          <p:cNvPr id="481" name="Google Shape;481;p55"/>
          <p:cNvPicPr preferRelativeResize="0"/>
          <p:nvPr>
            <p:ph idx="1" type="body"/>
          </p:nvPr>
        </p:nvPicPr>
        <p:blipFill rotWithShape="1">
          <a:blip r:embed="rId3">
            <a:alphaModFix/>
          </a:blip>
          <a:srcRect b="0" l="0" r="0" t="0"/>
          <a:stretch/>
        </p:blipFill>
        <p:spPr>
          <a:xfrm>
            <a:off x="1028700" y="1886744"/>
            <a:ext cx="10134600" cy="42291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6.3 DDD – Entities </a:t>
            </a:r>
            <a:endParaRPr/>
          </a:p>
        </p:txBody>
      </p:sp>
      <p:pic>
        <p:nvPicPr>
          <p:cNvPr id="488" name="Google Shape;488;p56"/>
          <p:cNvPicPr preferRelativeResize="0"/>
          <p:nvPr>
            <p:ph idx="1" type="body"/>
          </p:nvPr>
        </p:nvPicPr>
        <p:blipFill rotWithShape="1">
          <a:blip r:embed="rId3">
            <a:alphaModFix/>
          </a:blip>
          <a:srcRect b="0" l="0" r="0" t="0"/>
          <a:stretch/>
        </p:blipFill>
        <p:spPr>
          <a:xfrm>
            <a:off x="1028700" y="1886744"/>
            <a:ext cx="10134600" cy="42291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6.4 DDD – Value Objects</a:t>
            </a:r>
            <a:endParaRPr/>
          </a:p>
        </p:txBody>
      </p:sp>
      <p:pic>
        <p:nvPicPr>
          <p:cNvPr id="495" name="Google Shape;495;p57"/>
          <p:cNvPicPr preferRelativeResize="0"/>
          <p:nvPr>
            <p:ph idx="1" type="body"/>
          </p:nvPr>
        </p:nvPicPr>
        <p:blipFill rotWithShape="1">
          <a:blip r:embed="rId3">
            <a:alphaModFix/>
          </a:blip>
          <a:srcRect b="0" l="0" r="0" t="0"/>
          <a:stretch/>
        </p:blipFill>
        <p:spPr>
          <a:xfrm>
            <a:off x="3138487" y="2008246"/>
            <a:ext cx="5915025" cy="35623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7. Refactoring – Code Smells – Long Method</a:t>
            </a:r>
            <a:endParaRPr/>
          </a:p>
        </p:txBody>
      </p:sp>
      <p:pic>
        <p:nvPicPr>
          <p:cNvPr id="502" name="Google Shape;502;p58"/>
          <p:cNvPicPr preferRelativeResize="0"/>
          <p:nvPr>
            <p:ph idx="1" type="body"/>
          </p:nvPr>
        </p:nvPicPr>
        <p:blipFill rotWithShape="1">
          <a:blip r:embed="rId3">
            <a:alphaModFix/>
          </a:blip>
          <a:srcRect b="0" l="0" r="0" t="0"/>
          <a:stretch/>
        </p:blipFill>
        <p:spPr>
          <a:xfrm>
            <a:off x="2921204" y="1825625"/>
            <a:ext cx="6349591" cy="4351338"/>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7. Refactoring – Code Smells – Long Method - Lösung</a:t>
            </a:r>
            <a:endParaRPr/>
          </a:p>
        </p:txBody>
      </p:sp>
      <p:pic>
        <p:nvPicPr>
          <p:cNvPr id="509" name="Google Shape;509;p59"/>
          <p:cNvPicPr preferRelativeResize="0"/>
          <p:nvPr>
            <p:ph idx="1" type="body"/>
          </p:nvPr>
        </p:nvPicPr>
        <p:blipFill rotWithShape="1">
          <a:blip r:embed="rId3">
            <a:alphaModFix/>
          </a:blip>
          <a:srcRect b="0" l="0" r="0" t="0"/>
          <a:stretch/>
        </p:blipFill>
        <p:spPr>
          <a:xfrm>
            <a:off x="3916135" y="1825625"/>
            <a:ext cx="4359730" cy="435133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7. Refactoring – Code Smells – Long Parameter List </a:t>
            </a:r>
            <a:endParaRPr/>
          </a:p>
        </p:txBody>
      </p:sp>
      <p:pic>
        <p:nvPicPr>
          <p:cNvPr id="516" name="Google Shape;516;p60"/>
          <p:cNvPicPr preferRelativeResize="0"/>
          <p:nvPr>
            <p:ph idx="1" type="body"/>
          </p:nvPr>
        </p:nvPicPr>
        <p:blipFill rotWithShape="1">
          <a:blip r:embed="rId3">
            <a:alphaModFix/>
          </a:blip>
          <a:srcRect b="0" l="0" r="0" t="0"/>
          <a:stretch/>
        </p:blipFill>
        <p:spPr>
          <a:xfrm>
            <a:off x="838200" y="3622418"/>
            <a:ext cx="10515600" cy="757752"/>
          </a:xfrm>
          <a:prstGeom prst="rect">
            <a:avLst/>
          </a:prstGeom>
          <a:noFill/>
          <a:ln>
            <a:noFill/>
          </a:ln>
        </p:spPr>
      </p:pic>
      <p:sp>
        <p:nvSpPr>
          <p:cNvPr id="517" name="Google Shape;517;p60"/>
          <p:cNvSpPr txBox="1"/>
          <p:nvPr/>
        </p:nvSpPr>
        <p:spPr>
          <a:xfrm>
            <a:off x="838200" y="3022600"/>
            <a:ext cx="42291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TableUtils.java</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7. Refactoring – Code Smells – Long Parameter List – Lösung</a:t>
            </a:r>
            <a:endParaRPr/>
          </a:p>
        </p:txBody>
      </p:sp>
      <p:pic>
        <p:nvPicPr>
          <p:cNvPr id="524" name="Google Shape;524;p61"/>
          <p:cNvPicPr preferRelativeResize="0"/>
          <p:nvPr>
            <p:ph idx="1" type="body"/>
          </p:nvPr>
        </p:nvPicPr>
        <p:blipFill rotWithShape="1">
          <a:blip r:embed="rId3">
            <a:alphaModFix/>
          </a:blip>
          <a:srcRect b="0" l="0" r="0" t="0"/>
          <a:stretch/>
        </p:blipFill>
        <p:spPr>
          <a:xfrm>
            <a:off x="4203862" y="1825625"/>
            <a:ext cx="3784275" cy="4351338"/>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7.1 Refactoring – Extract Class – UML </a:t>
            </a:r>
            <a:endParaRPr/>
          </a:p>
        </p:txBody>
      </p:sp>
      <p:pic>
        <p:nvPicPr>
          <p:cNvPr id="531" name="Google Shape;531;p62"/>
          <p:cNvPicPr preferRelativeResize="0"/>
          <p:nvPr>
            <p:ph idx="1" type="body"/>
          </p:nvPr>
        </p:nvPicPr>
        <p:blipFill rotWithShape="1">
          <a:blip r:embed="rId3">
            <a:alphaModFix/>
          </a:blip>
          <a:srcRect b="0" l="0" r="0" t="0"/>
          <a:stretch/>
        </p:blipFill>
        <p:spPr>
          <a:xfrm>
            <a:off x="1622651" y="2721709"/>
            <a:ext cx="2676525" cy="3276600"/>
          </a:xfrm>
          <a:prstGeom prst="rect">
            <a:avLst/>
          </a:prstGeom>
          <a:noFill/>
          <a:ln>
            <a:noFill/>
          </a:ln>
        </p:spPr>
      </p:pic>
      <p:pic>
        <p:nvPicPr>
          <p:cNvPr id="532" name="Google Shape;532;p62"/>
          <p:cNvPicPr preferRelativeResize="0"/>
          <p:nvPr/>
        </p:nvPicPr>
        <p:blipFill rotWithShape="1">
          <a:blip r:embed="rId4">
            <a:alphaModFix/>
          </a:blip>
          <a:srcRect b="0" l="0" r="0" t="0"/>
          <a:stretch/>
        </p:blipFill>
        <p:spPr>
          <a:xfrm>
            <a:off x="5604328" y="3077230"/>
            <a:ext cx="5534025" cy="3133725"/>
          </a:xfrm>
          <a:prstGeom prst="rect">
            <a:avLst/>
          </a:prstGeom>
          <a:noFill/>
          <a:ln>
            <a:noFill/>
          </a:ln>
        </p:spPr>
      </p:pic>
      <p:sp>
        <p:nvSpPr>
          <p:cNvPr id="533" name="Google Shape;533;p62"/>
          <p:cNvSpPr txBox="1"/>
          <p:nvPr/>
        </p:nvSpPr>
        <p:spPr>
          <a:xfrm>
            <a:off x="1622650" y="2213908"/>
            <a:ext cx="267652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Vorher</a:t>
            </a:r>
            <a:endParaRPr/>
          </a:p>
        </p:txBody>
      </p:sp>
      <p:sp>
        <p:nvSpPr>
          <p:cNvPr id="534" name="Google Shape;534;p62"/>
          <p:cNvSpPr txBox="1"/>
          <p:nvPr/>
        </p:nvSpPr>
        <p:spPr>
          <a:xfrm>
            <a:off x="5604328" y="2329316"/>
            <a:ext cx="267652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2800">
                <a:solidFill>
                  <a:schemeClr val="dk1"/>
                </a:solidFill>
                <a:latin typeface="Arial"/>
                <a:ea typeface="Arial"/>
                <a:cs typeface="Arial"/>
                <a:sym typeface="Arial"/>
              </a:rPr>
              <a:t>Nachher</a:t>
            </a:r>
            <a:endParaRPr/>
          </a:p>
        </p:txBody>
      </p:sp>
      <p:sp>
        <p:nvSpPr>
          <p:cNvPr id="535" name="Google Shape;535;p62"/>
          <p:cNvSpPr txBox="1"/>
          <p:nvPr/>
        </p:nvSpPr>
        <p:spPr>
          <a:xfrm>
            <a:off x="838200" y="1775342"/>
            <a:ext cx="20178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chemeClr val="dk1"/>
                </a:solidFill>
                <a:latin typeface="Arial"/>
                <a:ea typeface="Arial"/>
                <a:cs typeface="Arial"/>
                <a:sym typeface="Arial"/>
              </a:rPr>
              <a:t>Commit: fed4d10</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3971f4c7808_0_0"/>
          <p:cNvSpPr txBox="1"/>
          <p:nvPr>
            <p:ph type="title"/>
          </p:nvPr>
        </p:nvSpPr>
        <p:spPr>
          <a:xfrm>
            <a:off x="838200" y="365125"/>
            <a:ext cx="107673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7.2 Refactoring - Duplicated Code (vorher)</a:t>
            </a:r>
            <a:endParaRPr/>
          </a:p>
        </p:txBody>
      </p:sp>
      <p:pic>
        <p:nvPicPr>
          <p:cNvPr id="541" name="Google Shape;541;g3971f4c7808_0_0" title="bf_repo.png"/>
          <p:cNvPicPr preferRelativeResize="0"/>
          <p:nvPr/>
        </p:nvPicPr>
        <p:blipFill>
          <a:blip r:embed="rId3">
            <a:alphaModFix/>
          </a:blip>
          <a:stretch>
            <a:fillRect/>
          </a:stretch>
        </p:blipFill>
        <p:spPr>
          <a:xfrm>
            <a:off x="1959863" y="1536775"/>
            <a:ext cx="8272263" cy="4862375"/>
          </a:xfrm>
          <a:prstGeom prst="rect">
            <a:avLst/>
          </a:prstGeom>
          <a:noFill/>
          <a:ln>
            <a:noFill/>
          </a:ln>
        </p:spPr>
      </p:pic>
      <p:sp>
        <p:nvSpPr>
          <p:cNvPr id="542" name="Google Shape;542;g3971f4c7808_0_0"/>
          <p:cNvSpPr txBox="1"/>
          <p:nvPr/>
        </p:nvSpPr>
        <p:spPr>
          <a:xfrm>
            <a:off x="838200" y="1775342"/>
            <a:ext cx="201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chemeClr val="dk1"/>
                </a:solidFill>
                <a:latin typeface="Arial"/>
                <a:ea typeface="Arial"/>
                <a:cs typeface="Arial"/>
                <a:sym typeface="Arial"/>
              </a:rPr>
              <a:t>Commit: </a:t>
            </a:r>
            <a:r>
              <a:rPr lang="de-DE" sz="1800">
                <a:solidFill>
                  <a:schemeClr val="dk1"/>
                </a:solidFill>
              </a:rPr>
              <a:t>beab6b9</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3971f4c7808_0_46"/>
          <p:cNvSpPr txBox="1"/>
          <p:nvPr>
            <p:ph type="title"/>
          </p:nvPr>
        </p:nvSpPr>
        <p:spPr>
          <a:xfrm>
            <a:off x="838200" y="365125"/>
            <a:ext cx="10833600" cy="13257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92958"/>
              <a:buFont typeface="Play"/>
              <a:buNone/>
            </a:pPr>
            <a:r>
              <a:rPr lang="de-DE" sz="4733"/>
              <a:t>7.2 Refactoring - Duplicated Code (nachher)</a:t>
            </a:r>
            <a:endParaRPr sz="4733"/>
          </a:p>
        </p:txBody>
      </p:sp>
      <p:pic>
        <p:nvPicPr>
          <p:cNvPr id="548" name="Google Shape;548;g3971f4c7808_0_46" title="af_repo.png"/>
          <p:cNvPicPr preferRelativeResize="0"/>
          <p:nvPr/>
        </p:nvPicPr>
        <p:blipFill rotWithShape="1">
          <a:blip r:embed="rId3">
            <a:alphaModFix/>
          </a:blip>
          <a:srcRect b="0" l="16514" r="0" t="70599"/>
          <a:stretch/>
        </p:blipFill>
        <p:spPr>
          <a:xfrm>
            <a:off x="1977476" y="2647125"/>
            <a:ext cx="8237049" cy="285417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8. Entwurfsmuster - Builder</a:t>
            </a:r>
            <a:endParaRPr/>
          </a:p>
        </p:txBody>
      </p:sp>
      <p:pic>
        <p:nvPicPr>
          <p:cNvPr id="554" name="Google Shape;554;p64"/>
          <p:cNvPicPr preferRelativeResize="0"/>
          <p:nvPr/>
        </p:nvPicPr>
        <p:blipFill>
          <a:blip r:embed="rId3">
            <a:alphaModFix/>
          </a:blip>
          <a:stretch>
            <a:fillRect/>
          </a:stretch>
        </p:blipFill>
        <p:spPr>
          <a:xfrm>
            <a:off x="1824038" y="1980563"/>
            <a:ext cx="8543925" cy="3324225"/>
          </a:xfrm>
          <a:prstGeom prst="rect">
            <a:avLst/>
          </a:prstGeom>
          <a:noFill/>
          <a:ln>
            <a:noFill/>
          </a:ln>
        </p:spPr>
      </p:pic>
      <p:pic>
        <p:nvPicPr>
          <p:cNvPr id="555" name="Google Shape;555;p64"/>
          <p:cNvPicPr preferRelativeResize="0"/>
          <p:nvPr/>
        </p:nvPicPr>
        <p:blipFill>
          <a:blip r:embed="rId4">
            <a:alphaModFix/>
          </a:blip>
          <a:stretch>
            <a:fillRect/>
          </a:stretch>
        </p:blipFill>
        <p:spPr>
          <a:xfrm>
            <a:off x="2805113" y="5545588"/>
            <a:ext cx="6581775" cy="6477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971f4c7808_0_5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8. Entwurfsmuster - Builder - UML</a:t>
            </a:r>
            <a:endParaRPr/>
          </a:p>
        </p:txBody>
      </p:sp>
      <p:pic>
        <p:nvPicPr>
          <p:cNvPr id="561" name="Google Shape;561;g3971f4c7808_0_57" title="builde.png"/>
          <p:cNvPicPr preferRelativeResize="0"/>
          <p:nvPr/>
        </p:nvPicPr>
        <p:blipFill>
          <a:blip r:embed="rId3">
            <a:alphaModFix/>
          </a:blip>
          <a:stretch>
            <a:fillRect/>
          </a:stretch>
        </p:blipFill>
        <p:spPr>
          <a:xfrm>
            <a:off x="2138363" y="1774500"/>
            <a:ext cx="7915275" cy="43815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971f4c7808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8. Entwurfsmuster - Composite</a:t>
            </a:r>
            <a:endParaRPr/>
          </a:p>
        </p:txBody>
      </p:sp>
      <p:pic>
        <p:nvPicPr>
          <p:cNvPr id="567" name="Google Shape;567;g3971f4c7808_0_67"/>
          <p:cNvPicPr preferRelativeResize="0"/>
          <p:nvPr/>
        </p:nvPicPr>
        <p:blipFill rotWithShape="1">
          <a:blip r:embed="rId3">
            <a:alphaModFix/>
          </a:blip>
          <a:srcRect b="84311" l="0" r="0" t="0"/>
          <a:stretch/>
        </p:blipFill>
        <p:spPr>
          <a:xfrm>
            <a:off x="594275" y="1548650"/>
            <a:ext cx="6181575" cy="762876"/>
          </a:xfrm>
          <a:prstGeom prst="rect">
            <a:avLst/>
          </a:prstGeom>
          <a:noFill/>
          <a:ln>
            <a:noFill/>
          </a:ln>
        </p:spPr>
      </p:pic>
      <p:pic>
        <p:nvPicPr>
          <p:cNvPr id="568" name="Google Shape;568;g3971f4c7808_0_67"/>
          <p:cNvPicPr preferRelativeResize="0"/>
          <p:nvPr/>
        </p:nvPicPr>
        <p:blipFill rotWithShape="1">
          <a:blip r:embed="rId3">
            <a:alphaModFix/>
          </a:blip>
          <a:srcRect b="28184" l="0" r="0" t="18469"/>
          <a:stretch/>
        </p:blipFill>
        <p:spPr>
          <a:xfrm>
            <a:off x="594275" y="2365175"/>
            <a:ext cx="6181575" cy="2593971"/>
          </a:xfrm>
          <a:prstGeom prst="rect">
            <a:avLst/>
          </a:prstGeom>
          <a:noFill/>
          <a:ln>
            <a:noFill/>
          </a:ln>
        </p:spPr>
      </p:pic>
      <p:pic>
        <p:nvPicPr>
          <p:cNvPr id="569" name="Google Shape;569;g3971f4c7808_0_67"/>
          <p:cNvPicPr preferRelativeResize="0"/>
          <p:nvPr/>
        </p:nvPicPr>
        <p:blipFill>
          <a:blip r:embed="rId4">
            <a:alphaModFix/>
          </a:blip>
          <a:stretch>
            <a:fillRect/>
          </a:stretch>
        </p:blipFill>
        <p:spPr>
          <a:xfrm>
            <a:off x="2214550" y="5227500"/>
            <a:ext cx="7762875" cy="876300"/>
          </a:xfrm>
          <a:prstGeom prst="rect">
            <a:avLst/>
          </a:prstGeom>
          <a:noFill/>
          <a:ln>
            <a:noFill/>
          </a:ln>
        </p:spPr>
      </p:pic>
      <p:pic>
        <p:nvPicPr>
          <p:cNvPr id="570" name="Google Shape;570;g3971f4c7808_0_67"/>
          <p:cNvPicPr preferRelativeResize="0"/>
          <p:nvPr/>
        </p:nvPicPr>
        <p:blipFill rotWithShape="1">
          <a:blip r:embed="rId3">
            <a:alphaModFix/>
          </a:blip>
          <a:srcRect b="0" l="0" r="0" t="75750"/>
          <a:stretch/>
        </p:blipFill>
        <p:spPr>
          <a:xfrm>
            <a:off x="4904050" y="1911601"/>
            <a:ext cx="6181575" cy="117912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971f4c7808_0_7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de-DE"/>
              <a:t>8. Entwurfsmuster - Composite - UML</a:t>
            </a:r>
            <a:endParaRPr/>
          </a:p>
        </p:txBody>
      </p:sp>
      <p:pic>
        <p:nvPicPr>
          <p:cNvPr id="576" name="Google Shape;576;g3971f4c7808_0_73" title="comp.png"/>
          <p:cNvPicPr preferRelativeResize="0"/>
          <p:nvPr/>
        </p:nvPicPr>
        <p:blipFill>
          <a:blip r:embed="rId3">
            <a:alphaModFix/>
          </a:blip>
          <a:stretch>
            <a:fillRect/>
          </a:stretch>
        </p:blipFill>
        <p:spPr>
          <a:xfrm>
            <a:off x="3281350" y="1690825"/>
            <a:ext cx="5629275" cy="4467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2026-04-06T17:12:00Z</dcterms:created>
  <dc:creator>Henri Weber</dc:creator>
</cp:coreProperties>
</file>